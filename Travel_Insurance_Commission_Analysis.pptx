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webextensions/webextension1.xml" ContentType="application/vnd.ms-office.webextension+xml"/>
  <Override PartName="/ppt/notesSlides/notesSlide7.xml" ContentType="application/vnd.openxmlformats-officedocument.presentationml.notesSlide+xml"/>
  <Override PartName="/ppt/webextensions/webextension2.xml" ContentType="application/vnd.ms-office.webextension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65" r:id="rId2"/>
    <p:sldId id="267" r:id="rId3"/>
    <p:sldId id="269" r:id="rId4"/>
    <p:sldId id="257" r:id="rId5"/>
    <p:sldId id="261" r:id="rId6"/>
    <p:sldId id="268" r:id="rId7"/>
    <p:sldId id="276" r:id="rId8"/>
    <p:sldId id="270" r:id="rId9"/>
    <p:sldId id="275" r:id="rId10"/>
    <p:sldId id="271" r:id="rId11"/>
    <p:sldId id="273" r:id="rId12"/>
    <p:sldId id="272" r:id="rId13"/>
    <p:sldId id="277" r:id="rId14"/>
    <p:sldId id="259" r:id="rId15"/>
    <p:sldId id="278" r:id="rId16"/>
    <p:sldId id="279" r:id="rId17"/>
    <p:sldId id="260" r:id="rId18"/>
    <p:sldId id="262" r:id="rId19"/>
    <p:sldId id="26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2998" autoAdjust="0"/>
  </p:normalViewPr>
  <p:slideViewPr>
    <p:cSldViewPr snapToGrid="0" snapToObjects="1">
      <p:cViewPr varScale="1">
        <p:scale>
          <a:sx n="103" d="100"/>
          <a:sy n="103" d="100"/>
        </p:scale>
        <p:origin x="18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0B952-48A5-4D2C-93F0-1CC42E64194E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54841-C267-44C7-811E-A3E7D15522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432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54841-C267-44C7-811E-A3E7D15522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692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54841-C267-44C7-811E-A3E7D155221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167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54841-C267-44C7-811E-A3E7D155221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37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- If we can predict commissions, we can  predictable profits</a:t>
            </a:r>
            <a:r>
              <a:rPr lang="en-US" dirty="0"/>
              <a:t>, improving forecasting and financial planning.</a:t>
            </a:r>
          </a:p>
          <a:p>
            <a:r>
              <a:rPr lang="en-US" b="1" dirty="0"/>
              <a:t>- If commissions rule are consistent and transparent, we can ensure fairness across agencies</a:t>
            </a:r>
            <a:r>
              <a:rPr lang="en-US" dirty="0"/>
              <a:t> (</a:t>
            </a:r>
            <a:r>
              <a:rPr lang="en-US" dirty="0" err="1"/>
              <a:t>etical</a:t>
            </a:r>
            <a:r>
              <a:rPr lang="en-US" dirty="0"/>
              <a:t> reason).</a:t>
            </a:r>
          </a:p>
          <a:p>
            <a:r>
              <a:rPr lang="en-US" b="1" dirty="0"/>
              <a:t>- Large commission variability makes it hard to benchmark performance</a:t>
            </a:r>
            <a:r>
              <a:rPr lang="en-US" dirty="0"/>
              <a:t> or determine standards.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54841-C267-44C7-811E-A3E7D155221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793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54841-C267-44C7-811E-A3E7D155221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708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Dashboards: 3 charts and 1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54841-C267-44C7-811E-A3E7D155221A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241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Interactive tool for decision making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54841-C267-44C7-811E-A3E7D155221A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232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Some commissions fall far above or below what would normally be expected.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54841-C267-44C7-811E-A3E7D155221A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889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54841-C267-44C7-811E-A3E7D155221A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692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kaggle.com/datasets/mhdzahier/travel-insurance/discussion/84463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0252F7C-076C-9208-5B2F-4745A84690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20738451">
            <a:off x="-380373" y="-3143"/>
            <a:ext cx="4100616" cy="21996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65AEA0-620E-E0F1-43B0-EADB63CF6ED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1292740">
            <a:off x="-548414" y="4473934"/>
            <a:ext cx="4197764" cy="21153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917B60-07BF-3176-A3E3-6C5E2222F54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rcRect t="21547"/>
          <a:stretch>
            <a:fillRect/>
          </a:stretch>
        </p:blipFill>
        <p:spPr>
          <a:xfrm>
            <a:off x="4481558" y="0"/>
            <a:ext cx="4959605" cy="33528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E16DAD-C0BA-F4A8-9849-1BC37811BC9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1243799">
            <a:off x="6830731" y="4393794"/>
            <a:ext cx="3398350" cy="29852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491AC4-CDFC-29DC-6546-0D6A707069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9811" y="2186472"/>
            <a:ext cx="4967621" cy="36930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969FD2F-3C6E-8926-2489-7B806D38A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9115" y="4756935"/>
            <a:ext cx="3107220" cy="1091790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00" b="1" dirty="0"/>
              <a:t>Analyzing &amp; Optimizing Commission Structures in Travel Insurance</a:t>
            </a:r>
          </a:p>
          <a:p>
            <a:pPr marL="0" indent="0">
              <a:buNone/>
            </a:pPr>
            <a:endParaRPr lang="en-GB" sz="1600" b="1" dirty="0"/>
          </a:p>
          <a:p>
            <a:pPr marL="0" indent="0">
              <a:buNone/>
            </a:pPr>
            <a:r>
              <a:rPr lang="en-GB" sz="1600" dirty="0"/>
              <a:t>			Maddalena </a:t>
            </a:r>
            <a:r>
              <a:rPr lang="en-GB" sz="1600" dirty="0" err="1"/>
              <a:t>Niedda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088975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CE030-35B6-61CF-601F-AB0335338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9E4CA-DEC8-CAF1-A2FA-B4539F140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</a:t>
            </a:r>
            <a:endParaRPr lang="en-US" dirty="0"/>
          </a:p>
          <a:p>
            <a:r>
              <a:rPr lang="en-US" dirty="0"/>
              <a:t>Business question</a:t>
            </a:r>
          </a:p>
          <a:p>
            <a:r>
              <a:rPr lang="en-US" dirty="0"/>
              <a:t>Why it matters</a:t>
            </a:r>
          </a:p>
          <a:p>
            <a:r>
              <a:rPr lang="en-US" dirty="0"/>
              <a:t>Workflow</a:t>
            </a:r>
          </a:p>
          <a:p>
            <a:r>
              <a:rPr lang="en-US" dirty="0"/>
              <a:t>EDA</a:t>
            </a:r>
          </a:p>
          <a:p>
            <a:r>
              <a:rPr lang="en-US" dirty="0"/>
              <a:t>Key insights</a:t>
            </a:r>
          </a:p>
          <a:p>
            <a:r>
              <a:rPr lang="en-US" dirty="0"/>
              <a:t>Recommendations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5425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8B5B2-E1CE-15F9-B11B-6E827CC90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E09D3-A508-7998-72D6-DA124D012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Travel insurance data analysis</a:t>
            </a:r>
          </a:p>
          <a:p>
            <a:r>
              <a:rPr lang="en-US" dirty="0"/>
              <a:t>Focus on Sales and Commissions</a:t>
            </a:r>
          </a:p>
          <a:p>
            <a:endParaRPr lang="en-US" dirty="0"/>
          </a:p>
          <a:p>
            <a:r>
              <a:rPr lang="en-US" dirty="0"/>
              <a:t>The challenge: No standard base for commissions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9011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Question</a:t>
            </a:r>
            <a:r>
              <a:rPr lang="en-GB" dirty="0"/>
              <a:t>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Are current commission rates consistent and sustainable</a:t>
            </a:r>
            <a:r>
              <a:rPr lang="en-US" dirty="0"/>
              <a:t>?</a:t>
            </a:r>
          </a:p>
          <a:p>
            <a:endParaRPr dirty="0"/>
          </a:p>
          <a:p>
            <a:r>
              <a:rPr lang="en-US" dirty="0"/>
              <a:t>W</a:t>
            </a:r>
            <a:r>
              <a:rPr dirty="0"/>
              <a:t>ould a standard 30% commission improve profitability?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Commissions vary widely - no standard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</a:t>
            </a:r>
            <a:r>
              <a:rPr lang="en-GB" dirty="0"/>
              <a:t>Predictable commissions = predictable profit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US" dirty="0"/>
              <a:t>•</a:t>
            </a:r>
            <a:r>
              <a:rPr lang="en-GB" dirty="0"/>
              <a:t>Transparency across agencies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FAD0A-3CB3-481D-56B1-4172B841B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3966CD-5E33-D25C-90B5-16957754D1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8694" y="1995563"/>
            <a:ext cx="5086611" cy="207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064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7A33692-AA63-DEB0-BE64-A1A5CC536C49}"/>
              </a:ext>
            </a:extLst>
          </p:cNvPr>
          <p:cNvSpPr txBox="1">
            <a:spLocks/>
          </p:cNvSpPr>
          <p:nvPr/>
        </p:nvSpPr>
        <p:spPr>
          <a:xfrm>
            <a:off x="1374479" y="344348"/>
            <a:ext cx="589908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Row data </a:t>
            </a:r>
            <a:r>
              <a:rPr lang="en-US" dirty="0"/>
              <a:t>					 SQL</a:t>
            </a:r>
            <a:endParaRPr lang="en-GB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9CDFBDD-DE85-7AC0-1C36-625DEDF06E79}"/>
              </a:ext>
            </a:extLst>
          </p:cNvPr>
          <p:cNvGrpSpPr/>
          <p:nvPr/>
        </p:nvGrpSpPr>
        <p:grpSpPr>
          <a:xfrm>
            <a:off x="1661261" y="2771353"/>
            <a:ext cx="5462545" cy="561086"/>
            <a:chOff x="975673" y="1240796"/>
            <a:chExt cx="3468193" cy="31116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F35E032-F630-604C-CC19-A3B5551A7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5673" y="1259847"/>
              <a:ext cx="1244664" cy="27306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7843C23-50D8-FDD7-02CF-5E3BC88A0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32488" y="1240796"/>
              <a:ext cx="1511378" cy="311166"/>
            </a:xfrm>
            <a:prstGeom prst="rect">
              <a:avLst/>
            </a:prstGeom>
          </p:spPr>
        </p:pic>
      </p:grpSp>
      <p:sp>
        <p:nvSpPr>
          <p:cNvPr id="7" name="Arrow: Right 6">
            <a:extLst>
              <a:ext uri="{FF2B5EF4-FFF2-40B4-BE49-F238E27FC236}">
                <a16:creationId xmlns:a16="http://schemas.microsoft.com/office/drawing/2014/main" id="{FE86524A-972A-29AD-C214-54A052E10609}"/>
              </a:ext>
            </a:extLst>
          </p:cNvPr>
          <p:cNvSpPr/>
          <p:nvPr/>
        </p:nvSpPr>
        <p:spPr>
          <a:xfrm>
            <a:off x="3782041" y="2771353"/>
            <a:ext cx="849395" cy="47601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144B77-B492-676D-6CCB-FA759AF457CC}"/>
              </a:ext>
            </a:extLst>
          </p:cNvPr>
          <p:cNvGrpSpPr/>
          <p:nvPr/>
        </p:nvGrpSpPr>
        <p:grpSpPr>
          <a:xfrm>
            <a:off x="319160" y="682557"/>
            <a:ext cx="5179299" cy="607731"/>
            <a:chOff x="319160" y="682557"/>
            <a:chExt cx="5179299" cy="607731"/>
          </a:xfrm>
        </p:grpSpPr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5414F5D2-DFA5-F508-E3D3-F8F79A629E89}"/>
                </a:ext>
              </a:extLst>
            </p:cNvPr>
            <p:cNvSpPr/>
            <p:nvPr/>
          </p:nvSpPr>
          <p:spPr>
            <a:xfrm>
              <a:off x="3829665" y="800616"/>
              <a:ext cx="849395" cy="476017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1026" name="Picture 2" descr="Sql Logo PNG Images - CleanPNG">
              <a:extLst>
                <a:ext uri="{FF2B5EF4-FFF2-40B4-BE49-F238E27FC236}">
                  <a16:creationId xmlns:a16="http://schemas.microsoft.com/office/drawing/2014/main" id="{57ABC2AC-B5CD-6390-0516-0FBB9CE21A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6621" y="682557"/>
              <a:ext cx="611838" cy="607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Kaggle Brand Guidelines | Kaggle">
              <a:extLst>
                <a:ext uri="{FF2B5EF4-FFF2-40B4-BE49-F238E27FC236}">
                  <a16:creationId xmlns:a16="http://schemas.microsoft.com/office/drawing/2014/main" id="{EEC11645-0FBD-79BF-537A-D9AF10FDF9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160" y="682557"/>
              <a:ext cx="928616" cy="547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80300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6E074-622F-5BE9-CB82-D5A2E47DC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4365" y="3222663"/>
            <a:ext cx="4257139" cy="3346476"/>
          </a:xfrm>
          <a:ln>
            <a:solidFill>
              <a:schemeClr val="tx1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2614773"/>
                      <a:gd name="connsiteY0" fmla="*/ 0 h 987558"/>
                      <a:gd name="connsiteX1" fmla="*/ 549102 w 2614773"/>
                      <a:gd name="connsiteY1" fmla="*/ 0 h 987558"/>
                      <a:gd name="connsiteX2" fmla="*/ 1019761 w 2614773"/>
                      <a:gd name="connsiteY2" fmla="*/ 0 h 987558"/>
                      <a:gd name="connsiteX3" fmla="*/ 1595012 w 2614773"/>
                      <a:gd name="connsiteY3" fmla="*/ 0 h 987558"/>
                      <a:gd name="connsiteX4" fmla="*/ 2039523 w 2614773"/>
                      <a:gd name="connsiteY4" fmla="*/ 0 h 987558"/>
                      <a:gd name="connsiteX5" fmla="*/ 2614773 w 2614773"/>
                      <a:gd name="connsiteY5" fmla="*/ 0 h 987558"/>
                      <a:gd name="connsiteX6" fmla="*/ 2614773 w 2614773"/>
                      <a:gd name="connsiteY6" fmla="*/ 483903 h 987558"/>
                      <a:gd name="connsiteX7" fmla="*/ 2614773 w 2614773"/>
                      <a:gd name="connsiteY7" fmla="*/ 987558 h 987558"/>
                      <a:gd name="connsiteX8" fmla="*/ 2091818 w 2614773"/>
                      <a:gd name="connsiteY8" fmla="*/ 987558 h 987558"/>
                      <a:gd name="connsiteX9" fmla="*/ 1516568 w 2614773"/>
                      <a:gd name="connsiteY9" fmla="*/ 987558 h 987558"/>
                      <a:gd name="connsiteX10" fmla="*/ 941318 w 2614773"/>
                      <a:gd name="connsiteY10" fmla="*/ 987558 h 987558"/>
                      <a:gd name="connsiteX11" fmla="*/ 0 w 2614773"/>
                      <a:gd name="connsiteY11" fmla="*/ 987558 h 987558"/>
                      <a:gd name="connsiteX12" fmla="*/ 0 w 2614773"/>
                      <a:gd name="connsiteY12" fmla="*/ 474028 h 987558"/>
                      <a:gd name="connsiteX13" fmla="*/ 0 w 2614773"/>
                      <a:gd name="connsiteY13" fmla="*/ 0 h 9875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614773" h="987558" fill="none" extrusionOk="0">
                        <a:moveTo>
                          <a:pt x="0" y="0"/>
                        </a:moveTo>
                        <a:cubicBezTo>
                          <a:pt x="272706" y="-50999"/>
                          <a:pt x="415512" y="41280"/>
                          <a:pt x="549102" y="0"/>
                        </a:cubicBezTo>
                        <a:cubicBezTo>
                          <a:pt x="682692" y="-41280"/>
                          <a:pt x="860365" y="19295"/>
                          <a:pt x="1019761" y="0"/>
                        </a:cubicBezTo>
                        <a:cubicBezTo>
                          <a:pt x="1179157" y="-19295"/>
                          <a:pt x="1403988" y="12807"/>
                          <a:pt x="1595012" y="0"/>
                        </a:cubicBezTo>
                        <a:cubicBezTo>
                          <a:pt x="1786036" y="-12807"/>
                          <a:pt x="1920767" y="52124"/>
                          <a:pt x="2039523" y="0"/>
                        </a:cubicBezTo>
                        <a:cubicBezTo>
                          <a:pt x="2158279" y="-52124"/>
                          <a:pt x="2499189" y="30545"/>
                          <a:pt x="2614773" y="0"/>
                        </a:cubicBezTo>
                        <a:cubicBezTo>
                          <a:pt x="2650615" y="124894"/>
                          <a:pt x="2585711" y="337000"/>
                          <a:pt x="2614773" y="483903"/>
                        </a:cubicBezTo>
                        <a:cubicBezTo>
                          <a:pt x="2643835" y="630806"/>
                          <a:pt x="2591463" y="850394"/>
                          <a:pt x="2614773" y="987558"/>
                        </a:cubicBezTo>
                        <a:cubicBezTo>
                          <a:pt x="2469152" y="1048743"/>
                          <a:pt x="2214263" y="954157"/>
                          <a:pt x="2091818" y="987558"/>
                        </a:cubicBezTo>
                        <a:cubicBezTo>
                          <a:pt x="1969374" y="1020959"/>
                          <a:pt x="1700263" y="928660"/>
                          <a:pt x="1516568" y="987558"/>
                        </a:cubicBezTo>
                        <a:cubicBezTo>
                          <a:pt x="1332873" y="1046456"/>
                          <a:pt x="1057485" y="919049"/>
                          <a:pt x="941318" y="987558"/>
                        </a:cubicBezTo>
                        <a:cubicBezTo>
                          <a:pt x="825151" y="1056067"/>
                          <a:pt x="203296" y="910909"/>
                          <a:pt x="0" y="987558"/>
                        </a:cubicBezTo>
                        <a:cubicBezTo>
                          <a:pt x="-61233" y="766513"/>
                          <a:pt x="49539" y="588381"/>
                          <a:pt x="0" y="474028"/>
                        </a:cubicBezTo>
                        <a:cubicBezTo>
                          <a:pt x="-49539" y="359675"/>
                          <a:pt x="55486" y="193184"/>
                          <a:pt x="0" y="0"/>
                        </a:cubicBezTo>
                        <a:close/>
                      </a:path>
                      <a:path w="2614773" h="987558" stroke="0" extrusionOk="0">
                        <a:moveTo>
                          <a:pt x="0" y="0"/>
                        </a:moveTo>
                        <a:cubicBezTo>
                          <a:pt x="120097" y="-24605"/>
                          <a:pt x="377430" y="62788"/>
                          <a:pt x="549102" y="0"/>
                        </a:cubicBezTo>
                        <a:cubicBezTo>
                          <a:pt x="720774" y="-62788"/>
                          <a:pt x="806667" y="41712"/>
                          <a:pt x="1045909" y="0"/>
                        </a:cubicBezTo>
                        <a:cubicBezTo>
                          <a:pt x="1285151" y="-41712"/>
                          <a:pt x="1398984" y="49459"/>
                          <a:pt x="1568864" y="0"/>
                        </a:cubicBezTo>
                        <a:cubicBezTo>
                          <a:pt x="1738745" y="-49459"/>
                          <a:pt x="1825376" y="2591"/>
                          <a:pt x="2039523" y="0"/>
                        </a:cubicBezTo>
                        <a:cubicBezTo>
                          <a:pt x="2253670" y="-2591"/>
                          <a:pt x="2492079" y="45863"/>
                          <a:pt x="2614773" y="0"/>
                        </a:cubicBezTo>
                        <a:cubicBezTo>
                          <a:pt x="2653872" y="127840"/>
                          <a:pt x="2592167" y="332647"/>
                          <a:pt x="2614773" y="474028"/>
                        </a:cubicBezTo>
                        <a:cubicBezTo>
                          <a:pt x="2637379" y="615409"/>
                          <a:pt x="2583604" y="871713"/>
                          <a:pt x="2614773" y="987558"/>
                        </a:cubicBezTo>
                        <a:cubicBezTo>
                          <a:pt x="2401435" y="1028076"/>
                          <a:pt x="2263063" y="933778"/>
                          <a:pt x="2144114" y="987558"/>
                        </a:cubicBezTo>
                        <a:cubicBezTo>
                          <a:pt x="2025165" y="1041338"/>
                          <a:pt x="1912955" y="949737"/>
                          <a:pt x="1699602" y="987558"/>
                        </a:cubicBezTo>
                        <a:cubicBezTo>
                          <a:pt x="1486249" y="1025379"/>
                          <a:pt x="1445219" y="986655"/>
                          <a:pt x="1228943" y="987558"/>
                        </a:cubicBezTo>
                        <a:cubicBezTo>
                          <a:pt x="1012667" y="988461"/>
                          <a:pt x="885006" y="959611"/>
                          <a:pt x="758284" y="987558"/>
                        </a:cubicBezTo>
                        <a:cubicBezTo>
                          <a:pt x="631562" y="1015505"/>
                          <a:pt x="325723" y="932479"/>
                          <a:pt x="0" y="987558"/>
                        </a:cubicBezTo>
                        <a:cubicBezTo>
                          <a:pt x="-12277" y="794818"/>
                          <a:pt x="52337" y="616282"/>
                          <a:pt x="0" y="474028"/>
                        </a:cubicBezTo>
                        <a:cubicBezTo>
                          <a:pt x="-52337" y="331774"/>
                          <a:pt x="41826" y="23579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0000"/>
                </a:solidFill>
              </a:rPr>
              <a:t>--</a:t>
            </a:r>
            <a:r>
              <a:rPr lang="en-GB" sz="1100" dirty="0">
                <a:solidFill>
                  <a:srgbClr val="FF0000"/>
                </a:solidFill>
              </a:rPr>
              <a:t> Assign new </a:t>
            </a:r>
            <a:r>
              <a:rPr lang="en-US" sz="1100" dirty="0">
                <a:solidFill>
                  <a:srgbClr val="FF0000"/>
                </a:solidFill>
              </a:rPr>
              <a:t>columns names </a:t>
            </a:r>
          </a:p>
          <a:p>
            <a:pPr marL="0" indent="0">
              <a:buNone/>
            </a:pPr>
            <a:endParaRPr lang="en-US" sz="11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100" b="1" dirty="0"/>
              <a:t>SELECT</a:t>
            </a:r>
            <a:r>
              <a:rPr lang="en-US" sz="1100" dirty="0"/>
              <a:t> </a:t>
            </a:r>
          </a:p>
          <a:p>
            <a:pPr marL="0" indent="0">
              <a:buNone/>
            </a:pPr>
            <a:r>
              <a:rPr lang="en-US" sz="1100" dirty="0"/>
              <a:t>    Agency,</a:t>
            </a:r>
          </a:p>
          <a:p>
            <a:pPr marL="0" indent="0">
              <a:buNone/>
            </a:pPr>
            <a:r>
              <a:rPr lang="en-US" sz="1100" dirty="0"/>
              <a:t>    `Agency Type`  </a:t>
            </a:r>
            <a:r>
              <a:rPr lang="en-US" sz="1100" b="1" dirty="0"/>
              <a:t>AS</a:t>
            </a:r>
            <a:r>
              <a:rPr lang="en-US" sz="1100" dirty="0"/>
              <a:t> </a:t>
            </a:r>
            <a:r>
              <a:rPr lang="en-US" sz="1100" dirty="0" err="1"/>
              <a:t>Agency_Type</a:t>
            </a:r>
            <a:r>
              <a:rPr lang="en-US" sz="1100" dirty="0"/>
              <a:t>,</a:t>
            </a:r>
          </a:p>
          <a:p>
            <a:pPr marL="0" indent="0">
              <a:buNone/>
            </a:pPr>
            <a:r>
              <a:rPr lang="en-US" sz="1100" dirty="0"/>
              <a:t>    `Distribution Channel` </a:t>
            </a:r>
            <a:r>
              <a:rPr lang="en-US" sz="1100" b="1" dirty="0"/>
              <a:t>AS</a:t>
            </a:r>
            <a:r>
              <a:rPr lang="en-US" sz="1100" dirty="0"/>
              <a:t> </a:t>
            </a:r>
            <a:r>
              <a:rPr lang="en-US" sz="1100" dirty="0" err="1"/>
              <a:t>Distribution_Channel</a:t>
            </a:r>
            <a:r>
              <a:rPr lang="en-US" sz="1100" dirty="0"/>
              <a:t>,</a:t>
            </a:r>
          </a:p>
          <a:p>
            <a:pPr marL="0" indent="0">
              <a:buNone/>
            </a:pPr>
            <a:r>
              <a:rPr lang="en-US" sz="1100" dirty="0"/>
              <a:t>    `Product Name`  </a:t>
            </a:r>
            <a:r>
              <a:rPr lang="en-US" sz="1100" b="1" dirty="0"/>
              <a:t>AS</a:t>
            </a:r>
            <a:r>
              <a:rPr lang="en-US" sz="1100" dirty="0"/>
              <a:t> </a:t>
            </a:r>
            <a:r>
              <a:rPr lang="en-US" sz="1100" dirty="0" err="1"/>
              <a:t>Product_Name</a:t>
            </a:r>
            <a:r>
              <a:rPr lang="en-US" sz="1100" dirty="0"/>
              <a:t>,</a:t>
            </a:r>
          </a:p>
          <a:p>
            <a:pPr marL="0" indent="0">
              <a:buNone/>
            </a:pPr>
            <a:r>
              <a:rPr lang="en-US" sz="1100" dirty="0"/>
              <a:t>    Claim,</a:t>
            </a:r>
          </a:p>
          <a:p>
            <a:pPr marL="0" indent="0">
              <a:buNone/>
            </a:pPr>
            <a:r>
              <a:rPr lang="en-US" sz="1100" dirty="0"/>
              <a:t>    Duration,</a:t>
            </a:r>
          </a:p>
          <a:p>
            <a:pPr marL="0" indent="0">
              <a:buNone/>
            </a:pPr>
            <a:r>
              <a:rPr lang="en-US" sz="1100" dirty="0"/>
              <a:t>    Destination,</a:t>
            </a:r>
          </a:p>
          <a:p>
            <a:pPr marL="0" indent="0">
              <a:buNone/>
            </a:pPr>
            <a:r>
              <a:rPr lang="en-US" sz="1100" dirty="0"/>
              <a:t>    `Net Sales` </a:t>
            </a:r>
            <a:r>
              <a:rPr lang="en-US" sz="1100" b="1" dirty="0"/>
              <a:t>AS</a:t>
            </a:r>
            <a:r>
              <a:rPr lang="en-US" sz="1100" dirty="0"/>
              <a:t> </a:t>
            </a:r>
            <a:r>
              <a:rPr lang="en-US" sz="1100" dirty="0" err="1"/>
              <a:t>Net_Sales</a:t>
            </a:r>
            <a:r>
              <a:rPr lang="en-US" sz="1100" dirty="0"/>
              <a:t>,</a:t>
            </a:r>
          </a:p>
          <a:p>
            <a:pPr marL="0" indent="0">
              <a:buNone/>
            </a:pPr>
            <a:r>
              <a:rPr lang="en-US" sz="1100" dirty="0"/>
              <a:t>    `</a:t>
            </a:r>
            <a:r>
              <a:rPr lang="en-US" sz="1100" dirty="0" err="1"/>
              <a:t>Commision</a:t>
            </a:r>
            <a:r>
              <a:rPr lang="en-US" sz="1100" dirty="0"/>
              <a:t> value` </a:t>
            </a:r>
            <a:r>
              <a:rPr lang="en-US" sz="1100" b="1" dirty="0"/>
              <a:t>AS</a:t>
            </a:r>
            <a:r>
              <a:rPr lang="en-US" sz="1100" dirty="0"/>
              <a:t> </a:t>
            </a:r>
            <a:r>
              <a:rPr lang="en-US" sz="1100" dirty="0" err="1"/>
              <a:t>Commission_Value</a:t>
            </a:r>
            <a:r>
              <a:rPr lang="en-US" sz="1100" dirty="0"/>
              <a:t>,</a:t>
            </a:r>
          </a:p>
          <a:p>
            <a:pPr marL="0" indent="0">
              <a:buNone/>
            </a:pPr>
            <a:r>
              <a:rPr lang="en-US" sz="1100" dirty="0"/>
              <a:t>    Gender,</a:t>
            </a:r>
          </a:p>
          <a:p>
            <a:pPr marL="0" indent="0">
              <a:buNone/>
            </a:pPr>
            <a:r>
              <a:rPr lang="en-US" sz="1100" dirty="0"/>
              <a:t>    Age</a:t>
            </a:r>
          </a:p>
          <a:p>
            <a:pPr marL="0" indent="0">
              <a:buNone/>
            </a:pPr>
            <a:r>
              <a:rPr lang="en-US" sz="1100" b="1" dirty="0"/>
              <a:t>FROM</a:t>
            </a:r>
            <a:r>
              <a:rPr lang="en-US" sz="1100" dirty="0"/>
              <a:t> `</a:t>
            </a:r>
            <a:r>
              <a:rPr lang="en-US" sz="1100" dirty="0" err="1"/>
              <a:t>travel_insurance</a:t>
            </a:r>
            <a:r>
              <a:rPr lang="en-US" sz="1100" dirty="0"/>
              <a:t>`</a:t>
            </a:r>
          </a:p>
          <a:p>
            <a:pPr marL="0" indent="0">
              <a:buNone/>
            </a:pPr>
            <a:r>
              <a:rPr lang="en-US" sz="1100" b="1" dirty="0"/>
              <a:t>ORDER BY </a:t>
            </a:r>
            <a:r>
              <a:rPr lang="en-US" sz="1100" dirty="0"/>
              <a:t>Agency;</a:t>
            </a:r>
          </a:p>
          <a:p>
            <a:pPr marL="0" indent="0">
              <a:buNone/>
            </a:pPr>
            <a:endParaRPr lang="en-GB" sz="1100" dirty="0">
              <a:solidFill>
                <a:srgbClr val="FF000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425019-2CDF-27E3-EDAE-4D2610075023}"/>
              </a:ext>
            </a:extLst>
          </p:cNvPr>
          <p:cNvSpPr txBox="1">
            <a:spLocks/>
          </p:cNvSpPr>
          <p:nvPr/>
        </p:nvSpPr>
        <p:spPr>
          <a:xfrm>
            <a:off x="3204365" y="439480"/>
            <a:ext cx="4257139" cy="707606"/>
          </a:xfrm>
          <a:prstGeom prst="rect">
            <a:avLst/>
          </a:prstGeom>
          <a:ln>
            <a:solidFill>
              <a:schemeClr val="tx1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2614773"/>
                      <a:gd name="connsiteY0" fmla="*/ 0 h 987558"/>
                      <a:gd name="connsiteX1" fmla="*/ 549102 w 2614773"/>
                      <a:gd name="connsiteY1" fmla="*/ 0 h 987558"/>
                      <a:gd name="connsiteX2" fmla="*/ 1019761 w 2614773"/>
                      <a:gd name="connsiteY2" fmla="*/ 0 h 987558"/>
                      <a:gd name="connsiteX3" fmla="*/ 1595012 w 2614773"/>
                      <a:gd name="connsiteY3" fmla="*/ 0 h 987558"/>
                      <a:gd name="connsiteX4" fmla="*/ 2039523 w 2614773"/>
                      <a:gd name="connsiteY4" fmla="*/ 0 h 987558"/>
                      <a:gd name="connsiteX5" fmla="*/ 2614773 w 2614773"/>
                      <a:gd name="connsiteY5" fmla="*/ 0 h 987558"/>
                      <a:gd name="connsiteX6" fmla="*/ 2614773 w 2614773"/>
                      <a:gd name="connsiteY6" fmla="*/ 483903 h 987558"/>
                      <a:gd name="connsiteX7" fmla="*/ 2614773 w 2614773"/>
                      <a:gd name="connsiteY7" fmla="*/ 987558 h 987558"/>
                      <a:gd name="connsiteX8" fmla="*/ 2091818 w 2614773"/>
                      <a:gd name="connsiteY8" fmla="*/ 987558 h 987558"/>
                      <a:gd name="connsiteX9" fmla="*/ 1516568 w 2614773"/>
                      <a:gd name="connsiteY9" fmla="*/ 987558 h 987558"/>
                      <a:gd name="connsiteX10" fmla="*/ 941318 w 2614773"/>
                      <a:gd name="connsiteY10" fmla="*/ 987558 h 987558"/>
                      <a:gd name="connsiteX11" fmla="*/ 0 w 2614773"/>
                      <a:gd name="connsiteY11" fmla="*/ 987558 h 987558"/>
                      <a:gd name="connsiteX12" fmla="*/ 0 w 2614773"/>
                      <a:gd name="connsiteY12" fmla="*/ 474028 h 987558"/>
                      <a:gd name="connsiteX13" fmla="*/ 0 w 2614773"/>
                      <a:gd name="connsiteY13" fmla="*/ 0 h 9875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614773" h="987558" fill="none" extrusionOk="0">
                        <a:moveTo>
                          <a:pt x="0" y="0"/>
                        </a:moveTo>
                        <a:cubicBezTo>
                          <a:pt x="272706" y="-50999"/>
                          <a:pt x="415512" y="41280"/>
                          <a:pt x="549102" y="0"/>
                        </a:cubicBezTo>
                        <a:cubicBezTo>
                          <a:pt x="682692" y="-41280"/>
                          <a:pt x="860365" y="19295"/>
                          <a:pt x="1019761" y="0"/>
                        </a:cubicBezTo>
                        <a:cubicBezTo>
                          <a:pt x="1179157" y="-19295"/>
                          <a:pt x="1403988" y="12807"/>
                          <a:pt x="1595012" y="0"/>
                        </a:cubicBezTo>
                        <a:cubicBezTo>
                          <a:pt x="1786036" y="-12807"/>
                          <a:pt x="1920767" y="52124"/>
                          <a:pt x="2039523" y="0"/>
                        </a:cubicBezTo>
                        <a:cubicBezTo>
                          <a:pt x="2158279" y="-52124"/>
                          <a:pt x="2499189" y="30545"/>
                          <a:pt x="2614773" y="0"/>
                        </a:cubicBezTo>
                        <a:cubicBezTo>
                          <a:pt x="2650615" y="124894"/>
                          <a:pt x="2585711" y="337000"/>
                          <a:pt x="2614773" y="483903"/>
                        </a:cubicBezTo>
                        <a:cubicBezTo>
                          <a:pt x="2643835" y="630806"/>
                          <a:pt x="2591463" y="850394"/>
                          <a:pt x="2614773" y="987558"/>
                        </a:cubicBezTo>
                        <a:cubicBezTo>
                          <a:pt x="2469152" y="1048743"/>
                          <a:pt x="2214263" y="954157"/>
                          <a:pt x="2091818" y="987558"/>
                        </a:cubicBezTo>
                        <a:cubicBezTo>
                          <a:pt x="1969374" y="1020959"/>
                          <a:pt x="1700263" y="928660"/>
                          <a:pt x="1516568" y="987558"/>
                        </a:cubicBezTo>
                        <a:cubicBezTo>
                          <a:pt x="1332873" y="1046456"/>
                          <a:pt x="1057485" y="919049"/>
                          <a:pt x="941318" y="987558"/>
                        </a:cubicBezTo>
                        <a:cubicBezTo>
                          <a:pt x="825151" y="1056067"/>
                          <a:pt x="203296" y="910909"/>
                          <a:pt x="0" y="987558"/>
                        </a:cubicBezTo>
                        <a:cubicBezTo>
                          <a:pt x="-61233" y="766513"/>
                          <a:pt x="49539" y="588381"/>
                          <a:pt x="0" y="474028"/>
                        </a:cubicBezTo>
                        <a:cubicBezTo>
                          <a:pt x="-49539" y="359675"/>
                          <a:pt x="55486" y="193184"/>
                          <a:pt x="0" y="0"/>
                        </a:cubicBezTo>
                        <a:close/>
                      </a:path>
                      <a:path w="2614773" h="987558" stroke="0" extrusionOk="0">
                        <a:moveTo>
                          <a:pt x="0" y="0"/>
                        </a:moveTo>
                        <a:cubicBezTo>
                          <a:pt x="120097" y="-24605"/>
                          <a:pt x="377430" y="62788"/>
                          <a:pt x="549102" y="0"/>
                        </a:cubicBezTo>
                        <a:cubicBezTo>
                          <a:pt x="720774" y="-62788"/>
                          <a:pt x="806667" y="41712"/>
                          <a:pt x="1045909" y="0"/>
                        </a:cubicBezTo>
                        <a:cubicBezTo>
                          <a:pt x="1285151" y="-41712"/>
                          <a:pt x="1398984" y="49459"/>
                          <a:pt x="1568864" y="0"/>
                        </a:cubicBezTo>
                        <a:cubicBezTo>
                          <a:pt x="1738745" y="-49459"/>
                          <a:pt x="1825376" y="2591"/>
                          <a:pt x="2039523" y="0"/>
                        </a:cubicBezTo>
                        <a:cubicBezTo>
                          <a:pt x="2253670" y="-2591"/>
                          <a:pt x="2492079" y="45863"/>
                          <a:pt x="2614773" y="0"/>
                        </a:cubicBezTo>
                        <a:cubicBezTo>
                          <a:pt x="2653872" y="127840"/>
                          <a:pt x="2592167" y="332647"/>
                          <a:pt x="2614773" y="474028"/>
                        </a:cubicBezTo>
                        <a:cubicBezTo>
                          <a:pt x="2637379" y="615409"/>
                          <a:pt x="2583604" y="871713"/>
                          <a:pt x="2614773" y="987558"/>
                        </a:cubicBezTo>
                        <a:cubicBezTo>
                          <a:pt x="2401435" y="1028076"/>
                          <a:pt x="2263063" y="933778"/>
                          <a:pt x="2144114" y="987558"/>
                        </a:cubicBezTo>
                        <a:cubicBezTo>
                          <a:pt x="2025165" y="1041338"/>
                          <a:pt x="1912955" y="949737"/>
                          <a:pt x="1699602" y="987558"/>
                        </a:cubicBezTo>
                        <a:cubicBezTo>
                          <a:pt x="1486249" y="1025379"/>
                          <a:pt x="1445219" y="986655"/>
                          <a:pt x="1228943" y="987558"/>
                        </a:cubicBezTo>
                        <a:cubicBezTo>
                          <a:pt x="1012667" y="988461"/>
                          <a:pt x="885006" y="959611"/>
                          <a:pt x="758284" y="987558"/>
                        </a:cubicBezTo>
                        <a:cubicBezTo>
                          <a:pt x="631562" y="1015505"/>
                          <a:pt x="325723" y="932479"/>
                          <a:pt x="0" y="987558"/>
                        </a:cubicBezTo>
                        <a:cubicBezTo>
                          <a:pt x="-12277" y="794818"/>
                          <a:pt x="52337" y="616282"/>
                          <a:pt x="0" y="474028"/>
                        </a:cubicBezTo>
                        <a:cubicBezTo>
                          <a:pt x="-52337" y="331774"/>
                          <a:pt x="41826" y="23579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Arial"/>
              <a:buNone/>
              <a:defRPr sz="1100">
                <a:solidFill>
                  <a:srgbClr val="FF0000"/>
                </a:solidFill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US" dirty="0"/>
              <a:t>--Extract dataset</a:t>
            </a:r>
          </a:p>
          <a:p>
            <a:endParaRPr lang="en-US" dirty="0"/>
          </a:p>
          <a:p>
            <a:r>
              <a:rPr lang="en-US" b="1" dirty="0">
                <a:solidFill>
                  <a:schemeClr val="tx1"/>
                </a:solidFill>
              </a:rPr>
              <a:t>SELECT</a:t>
            </a:r>
            <a:r>
              <a:rPr lang="en-US" dirty="0">
                <a:solidFill>
                  <a:schemeClr val="tx1"/>
                </a:solidFill>
              </a:rPr>
              <a:t> * FROM ‘</a:t>
            </a:r>
            <a:r>
              <a:rPr lang="en-US" dirty="0" err="1">
                <a:solidFill>
                  <a:schemeClr val="tx1"/>
                </a:solidFill>
              </a:rPr>
              <a:t>travel_insurance</a:t>
            </a:r>
            <a:r>
              <a:rPr lang="en-US" dirty="0">
                <a:solidFill>
                  <a:schemeClr val="tx1"/>
                </a:solidFill>
              </a:rPr>
              <a:t>’;</a:t>
            </a:r>
          </a:p>
          <a:p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BDB53F-B135-1CF2-9B87-CC5C3158E551}"/>
              </a:ext>
            </a:extLst>
          </p:cNvPr>
          <p:cNvSpPr txBox="1"/>
          <p:nvPr/>
        </p:nvSpPr>
        <p:spPr>
          <a:xfrm>
            <a:off x="169401" y="608617"/>
            <a:ext cx="2258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Extract dataset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B7C349-21AE-C720-EC39-AD938A6E0866}"/>
              </a:ext>
            </a:extLst>
          </p:cNvPr>
          <p:cNvSpPr txBox="1"/>
          <p:nvPr/>
        </p:nvSpPr>
        <p:spPr>
          <a:xfrm>
            <a:off x="169401" y="4147773"/>
            <a:ext cx="2258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Standardize columns names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0D9E08-A7B1-EF24-E3D1-7006FC94F13B}"/>
              </a:ext>
            </a:extLst>
          </p:cNvPr>
          <p:cNvSpPr txBox="1"/>
          <p:nvPr/>
        </p:nvSpPr>
        <p:spPr>
          <a:xfrm>
            <a:off x="169401" y="2089419"/>
            <a:ext cx="2258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Look for anomalies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CFD152D-A824-2477-BD42-45E4407C517A}"/>
              </a:ext>
            </a:extLst>
          </p:cNvPr>
          <p:cNvSpPr txBox="1">
            <a:spLocks/>
          </p:cNvSpPr>
          <p:nvPr/>
        </p:nvSpPr>
        <p:spPr>
          <a:xfrm>
            <a:off x="3204365" y="1623238"/>
            <a:ext cx="4257139" cy="1205022"/>
          </a:xfrm>
          <a:prstGeom prst="rect">
            <a:avLst/>
          </a:prstGeom>
          <a:ln>
            <a:solidFill>
              <a:schemeClr val="tx1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2614773"/>
                      <a:gd name="connsiteY0" fmla="*/ 0 h 987558"/>
                      <a:gd name="connsiteX1" fmla="*/ 549102 w 2614773"/>
                      <a:gd name="connsiteY1" fmla="*/ 0 h 987558"/>
                      <a:gd name="connsiteX2" fmla="*/ 1019761 w 2614773"/>
                      <a:gd name="connsiteY2" fmla="*/ 0 h 987558"/>
                      <a:gd name="connsiteX3" fmla="*/ 1595012 w 2614773"/>
                      <a:gd name="connsiteY3" fmla="*/ 0 h 987558"/>
                      <a:gd name="connsiteX4" fmla="*/ 2039523 w 2614773"/>
                      <a:gd name="connsiteY4" fmla="*/ 0 h 987558"/>
                      <a:gd name="connsiteX5" fmla="*/ 2614773 w 2614773"/>
                      <a:gd name="connsiteY5" fmla="*/ 0 h 987558"/>
                      <a:gd name="connsiteX6" fmla="*/ 2614773 w 2614773"/>
                      <a:gd name="connsiteY6" fmla="*/ 483903 h 987558"/>
                      <a:gd name="connsiteX7" fmla="*/ 2614773 w 2614773"/>
                      <a:gd name="connsiteY7" fmla="*/ 987558 h 987558"/>
                      <a:gd name="connsiteX8" fmla="*/ 2091818 w 2614773"/>
                      <a:gd name="connsiteY8" fmla="*/ 987558 h 987558"/>
                      <a:gd name="connsiteX9" fmla="*/ 1516568 w 2614773"/>
                      <a:gd name="connsiteY9" fmla="*/ 987558 h 987558"/>
                      <a:gd name="connsiteX10" fmla="*/ 941318 w 2614773"/>
                      <a:gd name="connsiteY10" fmla="*/ 987558 h 987558"/>
                      <a:gd name="connsiteX11" fmla="*/ 0 w 2614773"/>
                      <a:gd name="connsiteY11" fmla="*/ 987558 h 987558"/>
                      <a:gd name="connsiteX12" fmla="*/ 0 w 2614773"/>
                      <a:gd name="connsiteY12" fmla="*/ 474028 h 987558"/>
                      <a:gd name="connsiteX13" fmla="*/ 0 w 2614773"/>
                      <a:gd name="connsiteY13" fmla="*/ 0 h 9875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614773" h="987558" fill="none" extrusionOk="0">
                        <a:moveTo>
                          <a:pt x="0" y="0"/>
                        </a:moveTo>
                        <a:cubicBezTo>
                          <a:pt x="272706" y="-50999"/>
                          <a:pt x="415512" y="41280"/>
                          <a:pt x="549102" y="0"/>
                        </a:cubicBezTo>
                        <a:cubicBezTo>
                          <a:pt x="682692" y="-41280"/>
                          <a:pt x="860365" y="19295"/>
                          <a:pt x="1019761" y="0"/>
                        </a:cubicBezTo>
                        <a:cubicBezTo>
                          <a:pt x="1179157" y="-19295"/>
                          <a:pt x="1403988" y="12807"/>
                          <a:pt x="1595012" y="0"/>
                        </a:cubicBezTo>
                        <a:cubicBezTo>
                          <a:pt x="1786036" y="-12807"/>
                          <a:pt x="1920767" y="52124"/>
                          <a:pt x="2039523" y="0"/>
                        </a:cubicBezTo>
                        <a:cubicBezTo>
                          <a:pt x="2158279" y="-52124"/>
                          <a:pt x="2499189" y="30545"/>
                          <a:pt x="2614773" y="0"/>
                        </a:cubicBezTo>
                        <a:cubicBezTo>
                          <a:pt x="2650615" y="124894"/>
                          <a:pt x="2585711" y="337000"/>
                          <a:pt x="2614773" y="483903"/>
                        </a:cubicBezTo>
                        <a:cubicBezTo>
                          <a:pt x="2643835" y="630806"/>
                          <a:pt x="2591463" y="850394"/>
                          <a:pt x="2614773" y="987558"/>
                        </a:cubicBezTo>
                        <a:cubicBezTo>
                          <a:pt x="2469152" y="1048743"/>
                          <a:pt x="2214263" y="954157"/>
                          <a:pt x="2091818" y="987558"/>
                        </a:cubicBezTo>
                        <a:cubicBezTo>
                          <a:pt x="1969374" y="1020959"/>
                          <a:pt x="1700263" y="928660"/>
                          <a:pt x="1516568" y="987558"/>
                        </a:cubicBezTo>
                        <a:cubicBezTo>
                          <a:pt x="1332873" y="1046456"/>
                          <a:pt x="1057485" y="919049"/>
                          <a:pt x="941318" y="987558"/>
                        </a:cubicBezTo>
                        <a:cubicBezTo>
                          <a:pt x="825151" y="1056067"/>
                          <a:pt x="203296" y="910909"/>
                          <a:pt x="0" y="987558"/>
                        </a:cubicBezTo>
                        <a:cubicBezTo>
                          <a:pt x="-61233" y="766513"/>
                          <a:pt x="49539" y="588381"/>
                          <a:pt x="0" y="474028"/>
                        </a:cubicBezTo>
                        <a:cubicBezTo>
                          <a:pt x="-49539" y="359675"/>
                          <a:pt x="55486" y="193184"/>
                          <a:pt x="0" y="0"/>
                        </a:cubicBezTo>
                        <a:close/>
                      </a:path>
                      <a:path w="2614773" h="987558" stroke="0" extrusionOk="0">
                        <a:moveTo>
                          <a:pt x="0" y="0"/>
                        </a:moveTo>
                        <a:cubicBezTo>
                          <a:pt x="120097" y="-24605"/>
                          <a:pt x="377430" y="62788"/>
                          <a:pt x="549102" y="0"/>
                        </a:cubicBezTo>
                        <a:cubicBezTo>
                          <a:pt x="720774" y="-62788"/>
                          <a:pt x="806667" y="41712"/>
                          <a:pt x="1045909" y="0"/>
                        </a:cubicBezTo>
                        <a:cubicBezTo>
                          <a:pt x="1285151" y="-41712"/>
                          <a:pt x="1398984" y="49459"/>
                          <a:pt x="1568864" y="0"/>
                        </a:cubicBezTo>
                        <a:cubicBezTo>
                          <a:pt x="1738745" y="-49459"/>
                          <a:pt x="1825376" y="2591"/>
                          <a:pt x="2039523" y="0"/>
                        </a:cubicBezTo>
                        <a:cubicBezTo>
                          <a:pt x="2253670" y="-2591"/>
                          <a:pt x="2492079" y="45863"/>
                          <a:pt x="2614773" y="0"/>
                        </a:cubicBezTo>
                        <a:cubicBezTo>
                          <a:pt x="2653872" y="127840"/>
                          <a:pt x="2592167" y="332647"/>
                          <a:pt x="2614773" y="474028"/>
                        </a:cubicBezTo>
                        <a:cubicBezTo>
                          <a:pt x="2637379" y="615409"/>
                          <a:pt x="2583604" y="871713"/>
                          <a:pt x="2614773" y="987558"/>
                        </a:cubicBezTo>
                        <a:cubicBezTo>
                          <a:pt x="2401435" y="1028076"/>
                          <a:pt x="2263063" y="933778"/>
                          <a:pt x="2144114" y="987558"/>
                        </a:cubicBezTo>
                        <a:cubicBezTo>
                          <a:pt x="2025165" y="1041338"/>
                          <a:pt x="1912955" y="949737"/>
                          <a:pt x="1699602" y="987558"/>
                        </a:cubicBezTo>
                        <a:cubicBezTo>
                          <a:pt x="1486249" y="1025379"/>
                          <a:pt x="1445219" y="986655"/>
                          <a:pt x="1228943" y="987558"/>
                        </a:cubicBezTo>
                        <a:cubicBezTo>
                          <a:pt x="1012667" y="988461"/>
                          <a:pt x="885006" y="959611"/>
                          <a:pt x="758284" y="987558"/>
                        </a:cubicBezTo>
                        <a:cubicBezTo>
                          <a:pt x="631562" y="1015505"/>
                          <a:pt x="325723" y="932479"/>
                          <a:pt x="0" y="987558"/>
                        </a:cubicBezTo>
                        <a:cubicBezTo>
                          <a:pt x="-12277" y="794818"/>
                          <a:pt x="52337" y="616282"/>
                          <a:pt x="0" y="474028"/>
                        </a:cubicBezTo>
                        <a:cubicBezTo>
                          <a:pt x="-52337" y="331774"/>
                          <a:pt x="41826" y="23579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Arial"/>
              <a:buNone/>
              <a:defRPr sz="1100">
                <a:solidFill>
                  <a:srgbClr val="FF0000"/>
                </a:solidFill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US" dirty="0"/>
              <a:t>--Look for unusual or negative values, could indicate refunds or errors!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SELECT</a:t>
            </a:r>
            <a:r>
              <a:rPr lang="en-US" dirty="0">
                <a:solidFill>
                  <a:schemeClr val="tx1"/>
                </a:solidFill>
              </a:rPr>
              <a:t> *</a:t>
            </a:r>
          </a:p>
          <a:p>
            <a:r>
              <a:rPr lang="en-US" b="1" dirty="0">
                <a:solidFill>
                  <a:schemeClr val="tx1"/>
                </a:solidFill>
              </a:rPr>
              <a:t>FROM</a:t>
            </a:r>
            <a:r>
              <a:rPr lang="en-US" dirty="0">
                <a:solidFill>
                  <a:schemeClr val="tx1"/>
                </a:solidFill>
              </a:rPr>
              <a:t> `</a:t>
            </a:r>
            <a:r>
              <a:rPr lang="en-US" dirty="0" err="1">
                <a:solidFill>
                  <a:schemeClr val="tx1"/>
                </a:solidFill>
              </a:rPr>
              <a:t>travel_insurance</a:t>
            </a:r>
            <a:r>
              <a:rPr lang="en-US" dirty="0">
                <a:solidFill>
                  <a:schemeClr val="tx1"/>
                </a:solidFill>
              </a:rPr>
              <a:t>`</a:t>
            </a:r>
          </a:p>
          <a:p>
            <a:r>
              <a:rPr lang="en-US" b="1" dirty="0">
                <a:solidFill>
                  <a:schemeClr val="tx1"/>
                </a:solidFill>
              </a:rPr>
              <a:t>WHERE</a:t>
            </a:r>
            <a:r>
              <a:rPr lang="en-US" dirty="0">
                <a:solidFill>
                  <a:schemeClr val="tx1"/>
                </a:solidFill>
              </a:rPr>
              <a:t> `Net Sales` &lt; 0;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9618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175A0AB-EC45-2BFD-4264-6707AF055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194" y="274638"/>
            <a:ext cx="6019932" cy="1143000"/>
          </a:xfrm>
        </p:spPr>
        <p:txBody>
          <a:bodyPr/>
          <a:lstStyle/>
          <a:p>
            <a:pPr algn="l"/>
            <a:r>
              <a:rPr lang="en-US" dirty="0"/>
              <a:t>SQL 			  		  Python</a:t>
            </a:r>
            <a:endParaRPr lang="en-GB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ADAF968-D8CE-4927-2C3B-84E8D0634E8C}"/>
              </a:ext>
            </a:extLst>
          </p:cNvPr>
          <p:cNvGrpSpPr/>
          <p:nvPr/>
        </p:nvGrpSpPr>
        <p:grpSpPr>
          <a:xfrm>
            <a:off x="541791" y="2827099"/>
            <a:ext cx="5830382" cy="601901"/>
            <a:chOff x="4572000" y="1387700"/>
            <a:chExt cx="3841772" cy="32857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8335590-CEE3-DACF-850D-2E058B347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0" y="1405106"/>
              <a:ext cx="1511378" cy="31116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217C7B9-385A-DA81-E252-3D9C271BB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26190" y="1387700"/>
              <a:ext cx="1587582" cy="292115"/>
            </a:xfrm>
            <a:prstGeom prst="rect">
              <a:avLst/>
            </a:prstGeom>
          </p:spPr>
        </p:pic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96635B29-75CD-F62B-767F-2135DE03C344}"/>
                </a:ext>
              </a:extLst>
            </p:cNvPr>
            <p:cNvSpPr/>
            <p:nvPr/>
          </p:nvSpPr>
          <p:spPr>
            <a:xfrm>
              <a:off x="6174941" y="1403830"/>
              <a:ext cx="559686" cy="259853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0EBA30F-8914-1A20-7BA5-D0AEEF43788F}"/>
              </a:ext>
            </a:extLst>
          </p:cNvPr>
          <p:cNvSpPr/>
          <p:nvPr/>
        </p:nvSpPr>
        <p:spPr>
          <a:xfrm>
            <a:off x="3030144" y="608129"/>
            <a:ext cx="849395" cy="47601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 descr="Sql Logo PNG Images - CleanPNG">
            <a:extLst>
              <a:ext uri="{FF2B5EF4-FFF2-40B4-BE49-F238E27FC236}">
                <a16:creationId xmlns:a16="http://schemas.microsoft.com/office/drawing/2014/main" id="{A92C9823-D788-0BAD-2A94-C6B2E2F1B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867" y="553286"/>
            <a:ext cx="658677" cy="65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 descr="Panda with solid fill">
            <a:extLst>
              <a:ext uri="{FF2B5EF4-FFF2-40B4-BE49-F238E27FC236}">
                <a16:creationId xmlns:a16="http://schemas.microsoft.com/office/drawing/2014/main" id="{E4577AB3-78F8-9231-7C39-10B071727A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221600">
            <a:off x="6585642" y="492137"/>
            <a:ext cx="408091" cy="408091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44D8935-CBCE-E92F-3DD9-3450D684D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423" y="747475"/>
            <a:ext cx="329500" cy="32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ython Logo PNG Images Transparent Free Download">
            <a:extLst>
              <a:ext uri="{FF2B5EF4-FFF2-40B4-BE49-F238E27FC236}">
                <a16:creationId xmlns:a16="http://schemas.microsoft.com/office/drawing/2014/main" id="{4E35E66C-9669-F3DA-B473-C2FB09EB4D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22" t="29001" r="32767" b="21609"/>
          <a:stretch>
            <a:fillRect/>
          </a:stretch>
        </p:blipFill>
        <p:spPr bwMode="auto">
          <a:xfrm>
            <a:off x="4252912" y="553286"/>
            <a:ext cx="638175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0644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BA257-8B81-C947-192E-85B48D02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D6F07-90E0-870A-9F6A-49F40E011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372" y="3466258"/>
            <a:ext cx="2090731" cy="610795"/>
          </a:xfrm>
          <a:ln>
            <a:solidFill>
              <a:schemeClr val="tx1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2614773"/>
                      <a:gd name="connsiteY0" fmla="*/ 0 h 987558"/>
                      <a:gd name="connsiteX1" fmla="*/ 549102 w 2614773"/>
                      <a:gd name="connsiteY1" fmla="*/ 0 h 987558"/>
                      <a:gd name="connsiteX2" fmla="*/ 1019761 w 2614773"/>
                      <a:gd name="connsiteY2" fmla="*/ 0 h 987558"/>
                      <a:gd name="connsiteX3" fmla="*/ 1595012 w 2614773"/>
                      <a:gd name="connsiteY3" fmla="*/ 0 h 987558"/>
                      <a:gd name="connsiteX4" fmla="*/ 2039523 w 2614773"/>
                      <a:gd name="connsiteY4" fmla="*/ 0 h 987558"/>
                      <a:gd name="connsiteX5" fmla="*/ 2614773 w 2614773"/>
                      <a:gd name="connsiteY5" fmla="*/ 0 h 987558"/>
                      <a:gd name="connsiteX6" fmla="*/ 2614773 w 2614773"/>
                      <a:gd name="connsiteY6" fmla="*/ 483903 h 987558"/>
                      <a:gd name="connsiteX7" fmla="*/ 2614773 w 2614773"/>
                      <a:gd name="connsiteY7" fmla="*/ 987558 h 987558"/>
                      <a:gd name="connsiteX8" fmla="*/ 2091818 w 2614773"/>
                      <a:gd name="connsiteY8" fmla="*/ 987558 h 987558"/>
                      <a:gd name="connsiteX9" fmla="*/ 1516568 w 2614773"/>
                      <a:gd name="connsiteY9" fmla="*/ 987558 h 987558"/>
                      <a:gd name="connsiteX10" fmla="*/ 941318 w 2614773"/>
                      <a:gd name="connsiteY10" fmla="*/ 987558 h 987558"/>
                      <a:gd name="connsiteX11" fmla="*/ 0 w 2614773"/>
                      <a:gd name="connsiteY11" fmla="*/ 987558 h 987558"/>
                      <a:gd name="connsiteX12" fmla="*/ 0 w 2614773"/>
                      <a:gd name="connsiteY12" fmla="*/ 474028 h 987558"/>
                      <a:gd name="connsiteX13" fmla="*/ 0 w 2614773"/>
                      <a:gd name="connsiteY13" fmla="*/ 0 h 9875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614773" h="987558" fill="none" extrusionOk="0">
                        <a:moveTo>
                          <a:pt x="0" y="0"/>
                        </a:moveTo>
                        <a:cubicBezTo>
                          <a:pt x="272706" y="-50999"/>
                          <a:pt x="415512" y="41280"/>
                          <a:pt x="549102" y="0"/>
                        </a:cubicBezTo>
                        <a:cubicBezTo>
                          <a:pt x="682692" y="-41280"/>
                          <a:pt x="860365" y="19295"/>
                          <a:pt x="1019761" y="0"/>
                        </a:cubicBezTo>
                        <a:cubicBezTo>
                          <a:pt x="1179157" y="-19295"/>
                          <a:pt x="1403988" y="12807"/>
                          <a:pt x="1595012" y="0"/>
                        </a:cubicBezTo>
                        <a:cubicBezTo>
                          <a:pt x="1786036" y="-12807"/>
                          <a:pt x="1920767" y="52124"/>
                          <a:pt x="2039523" y="0"/>
                        </a:cubicBezTo>
                        <a:cubicBezTo>
                          <a:pt x="2158279" y="-52124"/>
                          <a:pt x="2499189" y="30545"/>
                          <a:pt x="2614773" y="0"/>
                        </a:cubicBezTo>
                        <a:cubicBezTo>
                          <a:pt x="2650615" y="124894"/>
                          <a:pt x="2585711" y="337000"/>
                          <a:pt x="2614773" y="483903"/>
                        </a:cubicBezTo>
                        <a:cubicBezTo>
                          <a:pt x="2643835" y="630806"/>
                          <a:pt x="2591463" y="850394"/>
                          <a:pt x="2614773" y="987558"/>
                        </a:cubicBezTo>
                        <a:cubicBezTo>
                          <a:pt x="2469152" y="1048743"/>
                          <a:pt x="2214263" y="954157"/>
                          <a:pt x="2091818" y="987558"/>
                        </a:cubicBezTo>
                        <a:cubicBezTo>
                          <a:pt x="1969374" y="1020959"/>
                          <a:pt x="1700263" y="928660"/>
                          <a:pt x="1516568" y="987558"/>
                        </a:cubicBezTo>
                        <a:cubicBezTo>
                          <a:pt x="1332873" y="1046456"/>
                          <a:pt x="1057485" y="919049"/>
                          <a:pt x="941318" y="987558"/>
                        </a:cubicBezTo>
                        <a:cubicBezTo>
                          <a:pt x="825151" y="1056067"/>
                          <a:pt x="203296" y="910909"/>
                          <a:pt x="0" y="987558"/>
                        </a:cubicBezTo>
                        <a:cubicBezTo>
                          <a:pt x="-61233" y="766513"/>
                          <a:pt x="49539" y="588381"/>
                          <a:pt x="0" y="474028"/>
                        </a:cubicBezTo>
                        <a:cubicBezTo>
                          <a:pt x="-49539" y="359675"/>
                          <a:pt x="55486" y="193184"/>
                          <a:pt x="0" y="0"/>
                        </a:cubicBezTo>
                        <a:close/>
                      </a:path>
                      <a:path w="2614773" h="987558" stroke="0" extrusionOk="0">
                        <a:moveTo>
                          <a:pt x="0" y="0"/>
                        </a:moveTo>
                        <a:cubicBezTo>
                          <a:pt x="120097" y="-24605"/>
                          <a:pt x="377430" y="62788"/>
                          <a:pt x="549102" y="0"/>
                        </a:cubicBezTo>
                        <a:cubicBezTo>
                          <a:pt x="720774" y="-62788"/>
                          <a:pt x="806667" y="41712"/>
                          <a:pt x="1045909" y="0"/>
                        </a:cubicBezTo>
                        <a:cubicBezTo>
                          <a:pt x="1285151" y="-41712"/>
                          <a:pt x="1398984" y="49459"/>
                          <a:pt x="1568864" y="0"/>
                        </a:cubicBezTo>
                        <a:cubicBezTo>
                          <a:pt x="1738745" y="-49459"/>
                          <a:pt x="1825376" y="2591"/>
                          <a:pt x="2039523" y="0"/>
                        </a:cubicBezTo>
                        <a:cubicBezTo>
                          <a:pt x="2253670" y="-2591"/>
                          <a:pt x="2492079" y="45863"/>
                          <a:pt x="2614773" y="0"/>
                        </a:cubicBezTo>
                        <a:cubicBezTo>
                          <a:pt x="2653872" y="127840"/>
                          <a:pt x="2592167" y="332647"/>
                          <a:pt x="2614773" y="474028"/>
                        </a:cubicBezTo>
                        <a:cubicBezTo>
                          <a:pt x="2637379" y="615409"/>
                          <a:pt x="2583604" y="871713"/>
                          <a:pt x="2614773" y="987558"/>
                        </a:cubicBezTo>
                        <a:cubicBezTo>
                          <a:pt x="2401435" y="1028076"/>
                          <a:pt x="2263063" y="933778"/>
                          <a:pt x="2144114" y="987558"/>
                        </a:cubicBezTo>
                        <a:cubicBezTo>
                          <a:pt x="2025165" y="1041338"/>
                          <a:pt x="1912955" y="949737"/>
                          <a:pt x="1699602" y="987558"/>
                        </a:cubicBezTo>
                        <a:cubicBezTo>
                          <a:pt x="1486249" y="1025379"/>
                          <a:pt x="1445219" y="986655"/>
                          <a:pt x="1228943" y="987558"/>
                        </a:cubicBezTo>
                        <a:cubicBezTo>
                          <a:pt x="1012667" y="988461"/>
                          <a:pt x="885006" y="959611"/>
                          <a:pt x="758284" y="987558"/>
                        </a:cubicBezTo>
                        <a:cubicBezTo>
                          <a:pt x="631562" y="1015505"/>
                          <a:pt x="325723" y="932479"/>
                          <a:pt x="0" y="987558"/>
                        </a:cubicBezTo>
                        <a:cubicBezTo>
                          <a:pt x="-12277" y="794818"/>
                          <a:pt x="52337" y="616282"/>
                          <a:pt x="0" y="474028"/>
                        </a:cubicBezTo>
                        <a:cubicBezTo>
                          <a:pt x="-52337" y="331774"/>
                          <a:pt x="41826" y="23579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GB" sz="1100" dirty="0">
                <a:solidFill>
                  <a:srgbClr val="FF0000"/>
                </a:solidFill>
              </a:rPr>
              <a:t># Exploratory Data Analysis (EDA)</a:t>
            </a:r>
          </a:p>
          <a:p>
            <a:pPr marL="0" indent="0">
              <a:buNone/>
            </a:pPr>
            <a:r>
              <a:rPr lang="en-GB" sz="1100" dirty="0" err="1"/>
              <a:t>df.describe</a:t>
            </a:r>
            <a:r>
              <a:rPr lang="en-GB" sz="1100" dirty="0"/>
              <a:t>()</a:t>
            </a:r>
          </a:p>
          <a:p>
            <a:pPr marL="0" indent="0">
              <a:buNone/>
            </a:pPr>
            <a:endParaRPr lang="en-GB" sz="1100" dirty="0">
              <a:solidFill>
                <a:srgbClr val="FF000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363EEA-BADC-96E2-FF04-5204607D302A}"/>
              </a:ext>
            </a:extLst>
          </p:cNvPr>
          <p:cNvSpPr txBox="1">
            <a:spLocks/>
          </p:cNvSpPr>
          <p:nvPr/>
        </p:nvSpPr>
        <p:spPr>
          <a:xfrm>
            <a:off x="3189372" y="174048"/>
            <a:ext cx="4292805" cy="1093959"/>
          </a:xfrm>
          <a:prstGeom prst="rect">
            <a:avLst/>
          </a:prstGeom>
          <a:ln>
            <a:solidFill>
              <a:schemeClr val="tx1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2614773"/>
                      <a:gd name="connsiteY0" fmla="*/ 0 h 987558"/>
                      <a:gd name="connsiteX1" fmla="*/ 549102 w 2614773"/>
                      <a:gd name="connsiteY1" fmla="*/ 0 h 987558"/>
                      <a:gd name="connsiteX2" fmla="*/ 1019761 w 2614773"/>
                      <a:gd name="connsiteY2" fmla="*/ 0 h 987558"/>
                      <a:gd name="connsiteX3" fmla="*/ 1595012 w 2614773"/>
                      <a:gd name="connsiteY3" fmla="*/ 0 h 987558"/>
                      <a:gd name="connsiteX4" fmla="*/ 2039523 w 2614773"/>
                      <a:gd name="connsiteY4" fmla="*/ 0 h 987558"/>
                      <a:gd name="connsiteX5" fmla="*/ 2614773 w 2614773"/>
                      <a:gd name="connsiteY5" fmla="*/ 0 h 987558"/>
                      <a:gd name="connsiteX6" fmla="*/ 2614773 w 2614773"/>
                      <a:gd name="connsiteY6" fmla="*/ 483903 h 987558"/>
                      <a:gd name="connsiteX7" fmla="*/ 2614773 w 2614773"/>
                      <a:gd name="connsiteY7" fmla="*/ 987558 h 987558"/>
                      <a:gd name="connsiteX8" fmla="*/ 2091818 w 2614773"/>
                      <a:gd name="connsiteY8" fmla="*/ 987558 h 987558"/>
                      <a:gd name="connsiteX9" fmla="*/ 1516568 w 2614773"/>
                      <a:gd name="connsiteY9" fmla="*/ 987558 h 987558"/>
                      <a:gd name="connsiteX10" fmla="*/ 941318 w 2614773"/>
                      <a:gd name="connsiteY10" fmla="*/ 987558 h 987558"/>
                      <a:gd name="connsiteX11" fmla="*/ 0 w 2614773"/>
                      <a:gd name="connsiteY11" fmla="*/ 987558 h 987558"/>
                      <a:gd name="connsiteX12" fmla="*/ 0 w 2614773"/>
                      <a:gd name="connsiteY12" fmla="*/ 474028 h 987558"/>
                      <a:gd name="connsiteX13" fmla="*/ 0 w 2614773"/>
                      <a:gd name="connsiteY13" fmla="*/ 0 h 9875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614773" h="987558" fill="none" extrusionOk="0">
                        <a:moveTo>
                          <a:pt x="0" y="0"/>
                        </a:moveTo>
                        <a:cubicBezTo>
                          <a:pt x="272706" y="-50999"/>
                          <a:pt x="415512" y="41280"/>
                          <a:pt x="549102" y="0"/>
                        </a:cubicBezTo>
                        <a:cubicBezTo>
                          <a:pt x="682692" y="-41280"/>
                          <a:pt x="860365" y="19295"/>
                          <a:pt x="1019761" y="0"/>
                        </a:cubicBezTo>
                        <a:cubicBezTo>
                          <a:pt x="1179157" y="-19295"/>
                          <a:pt x="1403988" y="12807"/>
                          <a:pt x="1595012" y="0"/>
                        </a:cubicBezTo>
                        <a:cubicBezTo>
                          <a:pt x="1786036" y="-12807"/>
                          <a:pt x="1920767" y="52124"/>
                          <a:pt x="2039523" y="0"/>
                        </a:cubicBezTo>
                        <a:cubicBezTo>
                          <a:pt x="2158279" y="-52124"/>
                          <a:pt x="2499189" y="30545"/>
                          <a:pt x="2614773" y="0"/>
                        </a:cubicBezTo>
                        <a:cubicBezTo>
                          <a:pt x="2650615" y="124894"/>
                          <a:pt x="2585711" y="337000"/>
                          <a:pt x="2614773" y="483903"/>
                        </a:cubicBezTo>
                        <a:cubicBezTo>
                          <a:pt x="2643835" y="630806"/>
                          <a:pt x="2591463" y="850394"/>
                          <a:pt x="2614773" y="987558"/>
                        </a:cubicBezTo>
                        <a:cubicBezTo>
                          <a:pt x="2469152" y="1048743"/>
                          <a:pt x="2214263" y="954157"/>
                          <a:pt x="2091818" y="987558"/>
                        </a:cubicBezTo>
                        <a:cubicBezTo>
                          <a:pt x="1969374" y="1020959"/>
                          <a:pt x="1700263" y="928660"/>
                          <a:pt x="1516568" y="987558"/>
                        </a:cubicBezTo>
                        <a:cubicBezTo>
                          <a:pt x="1332873" y="1046456"/>
                          <a:pt x="1057485" y="919049"/>
                          <a:pt x="941318" y="987558"/>
                        </a:cubicBezTo>
                        <a:cubicBezTo>
                          <a:pt x="825151" y="1056067"/>
                          <a:pt x="203296" y="910909"/>
                          <a:pt x="0" y="987558"/>
                        </a:cubicBezTo>
                        <a:cubicBezTo>
                          <a:pt x="-61233" y="766513"/>
                          <a:pt x="49539" y="588381"/>
                          <a:pt x="0" y="474028"/>
                        </a:cubicBezTo>
                        <a:cubicBezTo>
                          <a:pt x="-49539" y="359675"/>
                          <a:pt x="55486" y="193184"/>
                          <a:pt x="0" y="0"/>
                        </a:cubicBezTo>
                        <a:close/>
                      </a:path>
                      <a:path w="2614773" h="987558" stroke="0" extrusionOk="0">
                        <a:moveTo>
                          <a:pt x="0" y="0"/>
                        </a:moveTo>
                        <a:cubicBezTo>
                          <a:pt x="120097" y="-24605"/>
                          <a:pt x="377430" y="62788"/>
                          <a:pt x="549102" y="0"/>
                        </a:cubicBezTo>
                        <a:cubicBezTo>
                          <a:pt x="720774" y="-62788"/>
                          <a:pt x="806667" y="41712"/>
                          <a:pt x="1045909" y="0"/>
                        </a:cubicBezTo>
                        <a:cubicBezTo>
                          <a:pt x="1285151" y="-41712"/>
                          <a:pt x="1398984" y="49459"/>
                          <a:pt x="1568864" y="0"/>
                        </a:cubicBezTo>
                        <a:cubicBezTo>
                          <a:pt x="1738745" y="-49459"/>
                          <a:pt x="1825376" y="2591"/>
                          <a:pt x="2039523" y="0"/>
                        </a:cubicBezTo>
                        <a:cubicBezTo>
                          <a:pt x="2253670" y="-2591"/>
                          <a:pt x="2492079" y="45863"/>
                          <a:pt x="2614773" y="0"/>
                        </a:cubicBezTo>
                        <a:cubicBezTo>
                          <a:pt x="2653872" y="127840"/>
                          <a:pt x="2592167" y="332647"/>
                          <a:pt x="2614773" y="474028"/>
                        </a:cubicBezTo>
                        <a:cubicBezTo>
                          <a:pt x="2637379" y="615409"/>
                          <a:pt x="2583604" y="871713"/>
                          <a:pt x="2614773" y="987558"/>
                        </a:cubicBezTo>
                        <a:cubicBezTo>
                          <a:pt x="2401435" y="1028076"/>
                          <a:pt x="2263063" y="933778"/>
                          <a:pt x="2144114" y="987558"/>
                        </a:cubicBezTo>
                        <a:cubicBezTo>
                          <a:pt x="2025165" y="1041338"/>
                          <a:pt x="1912955" y="949737"/>
                          <a:pt x="1699602" y="987558"/>
                        </a:cubicBezTo>
                        <a:cubicBezTo>
                          <a:pt x="1486249" y="1025379"/>
                          <a:pt x="1445219" y="986655"/>
                          <a:pt x="1228943" y="987558"/>
                        </a:cubicBezTo>
                        <a:cubicBezTo>
                          <a:pt x="1012667" y="988461"/>
                          <a:pt x="885006" y="959611"/>
                          <a:pt x="758284" y="987558"/>
                        </a:cubicBezTo>
                        <a:cubicBezTo>
                          <a:pt x="631562" y="1015505"/>
                          <a:pt x="325723" y="932479"/>
                          <a:pt x="0" y="987558"/>
                        </a:cubicBezTo>
                        <a:cubicBezTo>
                          <a:pt x="-12277" y="794818"/>
                          <a:pt x="52337" y="616282"/>
                          <a:pt x="0" y="474028"/>
                        </a:cubicBezTo>
                        <a:cubicBezTo>
                          <a:pt x="-52337" y="331774"/>
                          <a:pt x="41826" y="23579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Arial"/>
              <a:buNone/>
              <a:defRPr sz="1100">
                <a:solidFill>
                  <a:srgbClr val="FF0000"/>
                </a:solidFill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GB" dirty="0"/>
              <a:t># Import pandas library/</a:t>
            </a:r>
            <a:r>
              <a:rPr lang="en-GB" b="1" dirty="0"/>
              <a:t> </a:t>
            </a:r>
            <a:r>
              <a:rPr lang="en-GB" dirty="0"/>
              <a:t>for data manipulation and analysis</a:t>
            </a:r>
          </a:p>
          <a:p>
            <a:r>
              <a:rPr lang="en-GB" dirty="0">
                <a:solidFill>
                  <a:schemeClr val="tx1"/>
                </a:solidFill>
              </a:rPr>
              <a:t>import pandas as pd</a:t>
            </a:r>
          </a:p>
          <a:p>
            <a:endParaRPr lang="en-GB" dirty="0"/>
          </a:p>
          <a:p>
            <a:r>
              <a:rPr lang="en-US" dirty="0"/>
              <a:t># Load the CSV file</a:t>
            </a:r>
          </a:p>
          <a:p>
            <a:r>
              <a:rPr lang="en-US" dirty="0" err="1">
                <a:solidFill>
                  <a:schemeClr val="tx1"/>
                </a:solidFill>
              </a:rPr>
              <a:t>df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pd.read_csv</a:t>
            </a:r>
            <a:r>
              <a:rPr lang="en-US" dirty="0">
                <a:solidFill>
                  <a:schemeClr val="tx1"/>
                </a:solidFill>
              </a:rPr>
              <a:t>('/content/travel </a:t>
            </a:r>
            <a:r>
              <a:rPr lang="en-US" dirty="0" err="1">
                <a:solidFill>
                  <a:schemeClr val="tx1"/>
                </a:solidFill>
              </a:rPr>
              <a:t>insurace</a:t>
            </a:r>
            <a:r>
              <a:rPr lang="en-US" dirty="0">
                <a:solidFill>
                  <a:schemeClr val="tx1"/>
                </a:solidFill>
              </a:rPr>
              <a:t> clean.csv')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080A24-281A-CEFF-9BDA-1B3DF9B5D252}"/>
              </a:ext>
            </a:extLst>
          </p:cNvPr>
          <p:cNvSpPr txBox="1"/>
          <p:nvPr/>
        </p:nvSpPr>
        <p:spPr>
          <a:xfrm>
            <a:off x="100619" y="5901713"/>
            <a:ext cx="2258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Clean data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4F42DB-9CE3-EE1C-E14A-FF3F2B92BBA6}"/>
              </a:ext>
            </a:extLst>
          </p:cNvPr>
          <p:cNvSpPr txBox="1"/>
          <p:nvPr/>
        </p:nvSpPr>
        <p:spPr>
          <a:xfrm>
            <a:off x="100619" y="375403"/>
            <a:ext cx="26917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Load extracted data</a:t>
            </a:r>
          </a:p>
          <a:p>
            <a:r>
              <a:rPr lang="en-US" dirty="0"/>
              <a:t>	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Import Python libraries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3DBF66-3582-1D37-5B10-A6ECD3D901C8}"/>
              </a:ext>
            </a:extLst>
          </p:cNvPr>
          <p:cNvSpPr txBox="1"/>
          <p:nvPr/>
        </p:nvSpPr>
        <p:spPr>
          <a:xfrm>
            <a:off x="77517" y="3389342"/>
            <a:ext cx="28064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Explore descriptive statistics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F3B3796D-3289-5D74-AB3B-1B2C17E932A8}"/>
              </a:ext>
            </a:extLst>
          </p:cNvPr>
          <p:cNvSpPr txBox="1">
            <a:spLocks/>
          </p:cNvSpPr>
          <p:nvPr/>
        </p:nvSpPr>
        <p:spPr>
          <a:xfrm>
            <a:off x="3189372" y="1404148"/>
            <a:ext cx="4292805" cy="660948"/>
          </a:xfrm>
          <a:prstGeom prst="rect">
            <a:avLst/>
          </a:prstGeom>
          <a:ln>
            <a:solidFill>
              <a:schemeClr val="tx1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2614773"/>
                      <a:gd name="connsiteY0" fmla="*/ 0 h 987558"/>
                      <a:gd name="connsiteX1" fmla="*/ 549102 w 2614773"/>
                      <a:gd name="connsiteY1" fmla="*/ 0 h 987558"/>
                      <a:gd name="connsiteX2" fmla="*/ 1019761 w 2614773"/>
                      <a:gd name="connsiteY2" fmla="*/ 0 h 987558"/>
                      <a:gd name="connsiteX3" fmla="*/ 1595012 w 2614773"/>
                      <a:gd name="connsiteY3" fmla="*/ 0 h 987558"/>
                      <a:gd name="connsiteX4" fmla="*/ 2039523 w 2614773"/>
                      <a:gd name="connsiteY4" fmla="*/ 0 h 987558"/>
                      <a:gd name="connsiteX5" fmla="*/ 2614773 w 2614773"/>
                      <a:gd name="connsiteY5" fmla="*/ 0 h 987558"/>
                      <a:gd name="connsiteX6" fmla="*/ 2614773 w 2614773"/>
                      <a:gd name="connsiteY6" fmla="*/ 483903 h 987558"/>
                      <a:gd name="connsiteX7" fmla="*/ 2614773 w 2614773"/>
                      <a:gd name="connsiteY7" fmla="*/ 987558 h 987558"/>
                      <a:gd name="connsiteX8" fmla="*/ 2091818 w 2614773"/>
                      <a:gd name="connsiteY8" fmla="*/ 987558 h 987558"/>
                      <a:gd name="connsiteX9" fmla="*/ 1516568 w 2614773"/>
                      <a:gd name="connsiteY9" fmla="*/ 987558 h 987558"/>
                      <a:gd name="connsiteX10" fmla="*/ 941318 w 2614773"/>
                      <a:gd name="connsiteY10" fmla="*/ 987558 h 987558"/>
                      <a:gd name="connsiteX11" fmla="*/ 0 w 2614773"/>
                      <a:gd name="connsiteY11" fmla="*/ 987558 h 987558"/>
                      <a:gd name="connsiteX12" fmla="*/ 0 w 2614773"/>
                      <a:gd name="connsiteY12" fmla="*/ 474028 h 987558"/>
                      <a:gd name="connsiteX13" fmla="*/ 0 w 2614773"/>
                      <a:gd name="connsiteY13" fmla="*/ 0 h 9875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614773" h="987558" fill="none" extrusionOk="0">
                        <a:moveTo>
                          <a:pt x="0" y="0"/>
                        </a:moveTo>
                        <a:cubicBezTo>
                          <a:pt x="272706" y="-50999"/>
                          <a:pt x="415512" y="41280"/>
                          <a:pt x="549102" y="0"/>
                        </a:cubicBezTo>
                        <a:cubicBezTo>
                          <a:pt x="682692" y="-41280"/>
                          <a:pt x="860365" y="19295"/>
                          <a:pt x="1019761" y="0"/>
                        </a:cubicBezTo>
                        <a:cubicBezTo>
                          <a:pt x="1179157" y="-19295"/>
                          <a:pt x="1403988" y="12807"/>
                          <a:pt x="1595012" y="0"/>
                        </a:cubicBezTo>
                        <a:cubicBezTo>
                          <a:pt x="1786036" y="-12807"/>
                          <a:pt x="1920767" y="52124"/>
                          <a:pt x="2039523" y="0"/>
                        </a:cubicBezTo>
                        <a:cubicBezTo>
                          <a:pt x="2158279" y="-52124"/>
                          <a:pt x="2499189" y="30545"/>
                          <a:pt x="2614773" y="0"/>
                        </a:cubicBezTo>
                        <a:cubicBezTo>
                          <a:pt x="2650615" y="124894"/>
                          <a:pt x="2585711" y="337000"/>
                          <a:pt x="2614773" y="483903"/>
                        </a:cubicBezTo>
                        <a:cubicBezTo>
                          <a:pt x="2643835" y="630806"/>
                          <a:pt x="2591463" y="850394"/>
                          <a:pt x="2614773" y="987558"/>
                        </a:cubicBezTo>
                        <a:cubicBezTo>
                          <a:pt x="2469152" y="1048743"/>
                          <a:pt x="2214263" y="954157"/>
                          <a:pt x="2091818" y="987558"/>
                        </a:cubicBezTo>
                        <a:cubicBezTo>
                          <a:pt x="1969374" y="1020959"/>
                          <a:pt x="1700263" y="928660"/>
                          <a:pt x="1516568" y="987558"/>
                        </a:cubicBezTo>
                        <a:cubicBezTo>
                          <a:pt x="1332873" y="1046456"/>
                          <a:pt x="1057485" y="919049"/>
                          <a:pt x="941318" y="987558"/>
                        </a:cubicBezTo>
                        <a:cubicBezTo>
                          <a:pt x="825151" y="1056067"/>
                          <a:pt x="203296" y="910909"/>
                          <a:pt x="0" y="987558"/>
                        </a:cubicBezTo>
                        <a:cubicBezTo>
                          <a:pt x="-61233" y="766513"/>
                          <a:pt x="49539" y="588381"/>
                          <a:pt x="0" y="474028"/>
                        </a:cubicBezTo>
                        <a:cubicBezTo>
                          <a:pt x="-49539" y="359675"/>
                          <a:pt x="55486" y="193184"/>
                          <a:pt x="0" y="0"/>
                        </a:cubicBezTo>
                        <a:close/>
                      </a:path>
                      <a:path w="2614773" h="987558" stroke="0" extrusionOk="0">
                        <a:moveTo>
                          <a:pt x="0" y="0"/>
                        </a:moveTo>
                        <a:cubicBezTo>
                          <a:pt x="120097" y="-24605"/>
                          <a:pt x="377430" y="62788"/>
                          <a:pt x="549102" y="0"/>
                        </a:cubicBezTo>
                        <a:cubicBezTo>
                          <a:pt x="720774" y="-62788"/>
                          <a:pt x="806667" y="41712"/>
                          <a:pt x="1045909" y="0"/>
                        </a:cubicBezTo>
                        <a:cubicBezTo>
                          <a:pt x="1285151" y="-41712"/>
                          <a:pt x="1398984" y="49459"/>
                          <a:pt x="1568864" y="0"/>
                        </a:cubicBezTo>
                        <a:cubicBezTo>
                          <a:pt x="1738745" y="-49459"/>
                          <a:pt x="1825376" y="2591"/>
                          <a:pt x="2039523" y="0"/>
                        </a:cubicBezTo>
                        <a:cubicBezTo>
                          <a:pt x="2253670" y="-2591"/>
                          <a:pt x="2492079" y="45863"/>
                          <a:pt x="2614773" y="0"/>
                        </a:cubicBezTo>
                        <a:cubicBezTo>
                          <a:pt x="2653872" y="127840"/>
                          <a:pt x="2592167" y="332647"/>
                          <a:pt x="2614773" y="474028"/>
                        </a:cubicBezTo>
                        <a:cubicBezTo>
                          <a:pt x="2637379" y="615409"/>
                          <a:pt x="2583604" y="871713"/>
                          <a:pt x="2614773" y="987558"/>
                        </a:cubicBezTo>
                        <a:cubicBezTo>
                          <a:pt x="2401435" y="1028076"/>
                          <a:pt x="2263063" y="933778"/>
                          <a:pt x="2144114" y="987558"/>
                        </a:cubicBezTo>
                        <a:cubicBezTo>
                          <a:pt x="2025165" y="1041338"/>
                          <a:pt x="1912955" y="949737"/>
                          <a:pt x="1699602" y="987558"/>
                        </a:cubicBezTo>
                        <a:cubicBezTo>
                          <a:pt x="1486249" y="1025379"/>
                          <a:pt x="1445219" y="986655"/>
                          <a:pt x="1228943" y="987558"/>
                        </a:cubicBezTo>
                        <a:cubicBezTo>
                          <a:pt x="1012667" y="988461"/>
                          <a:pt x="885006" y="959611"/>
                          <a:pt x="758284" y="987558"/>
                        </a:cubicBezTo>
                        <a:cubicBezTo>
                          <a:pt x="631562" y="1015505"/>
                          <a:pt x="325723" y="932479"/>
                          <a:pt x="0" y="987558"/>
                        </a:cubicBezTo>
                        <a:cubicBezTo>
                          <a:pt x="-12277" y="794818"/>
                          <a:pt x="52337" y="616282"/>
                          <a:pt x="0" y="474028"/>
                        </a:cubicBezTo>
                        <a:cubicBezTo>
                          <a:pt x="-52337" y="331774"/>
                          <a:pt x="41826" y="23579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Arial"/>
              <a:buNone/>
              <a:defRPr sz="1100">
                <a:solidFill>
                  <a:srgbClr val="FF0000"/>
                </a:solidFill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US" dirty="0"/>
              <a:t>#matplotlib </a:t>
            </a:r>
            <a:r>
              <a:rPr lang="en-GB" dirty="0"/>
              <a:t>library </a:t>
            </a:r>
            <a:r>
              <a:rPr lang="en-US" dirty="0"/>
              <a:t>/ for visuals</a:t>
            </a:r>
          </a:p>
          <a:p>
            <a:r>
              <a:rPr lang="en-US" dirty="0">
                <a:solidFill>
                  <a:schemeClr val="tx1"/>
                </a:solidFill>
              </a:rPr>
              <a:t>import </a:t>
            </a:r>
            <a:r>
              <a:rPr lang="en-US" dirty="0" err="1">
                <a:solidFill>
                  <a:schemeClr val="tx1"/>
                </a:solidFill>
              </a:rPr>
              <a:t>matplotlib.pyplot</a:t>
            </a:r>
            <a:r>
              <a:rPr lang="en-US" dirty="0">
                <a:solidFill>
                  <a:schemeClr val="tx1"/>
                </a:solidFill>
              </a:rPr>
              <a:t> as </a:t>
            </a:r>
            <a:r>
              <a:rPr lang="en-US" dirty="0" err="1">
                <a:solidFill>
                  <a:schemeClr val="tx1"/>
                </a:solidFill>
              </a:rPr>
              <a:t>plt</a:t>
            </a:r>
            <a:endParaRPr lang="en-US" dirty="0">
              <a:solidFill>
                <a:schemeClr val="tx1"/>
              </a:solidFill>
            </a:endParaRPr>
          </a:p>
          <a:p>
            <a:endParaRPr lang="en-GB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C95764A-9171-0F29-9F05-AD15CC490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283" y="2563813"/>
            <a:ext cx="3576200" cy="2447787"/>
          </a:xfrm>
          <a:prstGeom prst="rect">
            <a:avLst/>
          </a:prstGeom>
        </p:spPr>
      </p:pic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20D8E41C-6F04-F7B9-CE07-76BB09920D52}"/>
              </a:ext>
            </a:extLst>
          </p:cNvPr>
          <p:cNvSpPr txBox="1">
            <a:spLocks/>
          </p:cNvSpPr>
          <p:nvPr/>
        </p:nvSpPr>
        <p:spPr>
          <a:xfrm>
            <a:off x="3189373" y="5808688"/>
            <a:ext cx="4292804" cy="604074"/>
          </a:xfrm>
          <a:prstGeom prst="rect">
            <a:avLst/>
          </a:prstGeom>
          <a:ln>
            <a:solidFill>
              <a:schemeClr val="tx1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2614773"/>
                      <a:gd name="connsiteY0" fmla="*/ 0 h 987558"/>
                      <a:gd name="connsiteX1" fmla="*/ 549102 w 2614773"/>
                      <a:gd name="connsiteY1" fmla="*/ 0 h 987558"/>
                      <a:gd name="connsiteX2" fmla="*/ 1019761 w 2614773"/>
                      <a:gd name="connsiteY2" fmla="*/ 0 h 987558"/>
                      <a:gd name="connsiteX3" fmla="*/ 1595012 w 2614773"/>
                      <a:gd name="connsiteY3" fmla="*/ 0 h 987558"/>
                      <a:gd name="connsiteX4" fmla="*/ 2039523 w 2614773"/>
                      <a:gd name="connsiteY4" fmla="*/ 0 h 987558"/>
                      <a:gd name="connsiteX5" fmla="*/ 2614773 w 2614773"/>
                      <a:gd name="connsiteY5" fmla="*/ 0 h 987558"/>
                      <a:gd name="connsiteX6" fmla="*/ 2614773 w 2614773"/>
                      <a:gd name="connsiteY6" fmla="*/ 483903 h 987558"/>
                      <a:gd name="connsiteX7" fmla="*/ 2614773 w 2614773"/>
                      <a:gd name="connsiteY7" fmla="*/ 987558 h 987558"/>
                      <a:gd name="connsiteX8" fmla="*/ 2091818 w 2614773"/>
                      <a:gd name="connsiteY8" fmla="*/ 987558 h 987558"/>
                      <a:gd name="connsiteX9" fmla="*/ 1516568 w 2614773"/>
                      <a:gd name="connsiteY9" fmla="*/ 987558 h 987558"/>
                      <a:gd name="connsiteX10" fmla="*/ 941318 w 2614773"/>
                      <a:gd name="connsiteY10" fmla="*/ 987558 h 987558"/>
                      <a:gd name="connsiteX11" fmla="*/ 0 w 2614773"/>
                      <a:gd name="connsiteY11" fmla="*/ 987558 h 987558"/>
                      <a:gd name="connsiteX12" fmla="*/ 0 w 2614773"/>
                      <a:gd name="connsiteY12" fmla="*/ 474028 h 987558"/>
                      <a:gd name="connsiteX13" fmla="*/ 0 w 2614773"/>
                      <a:gd name="connsiteY13" fmla="*/ 0 h 9875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614773" h="987558" fill="none" extrusionOk="0">
                        <a:moveTo>
                          <a:pt x="0" y="0"/>
                        </a:moveTo>
                        <a:cubicBezTo>
                          <a:pt x="272706" y="-50999"/>
                          <a:pt x="415512" y="41280"/>
                          <a:pt x="549102" y="0"/>
                        </a:cubicBezTo>
                        <a:cubicBezTo>
                          <a:pt x="682692" y="-41280"/>
                          <a:pt x="860365" y="19295"/>
                          <a:pt x="1019761" y="0"/>
                        </a:cubicBezTo>
                        <a:cubicBezTo>
                          <a:pt x="1179157" y="-19295"/>
                          <a:pt x="1403988" y="12807"/>
                          <a:pt x="1595012" y="0"/>
                        </a:cubicBezTo>
                        <a:cubicBezTo>
                          <a:pt x="1786036" y="-12807"/>
                          <a:pt x="1920767" y="52124"/>
                          <a:pt x="2039523" y="0"/>
                        </a:cubicBezTo>
                        <a:cubicBezTo>
                          <a:pt x="2158279" y="-52124"/>
                          <a:pt x="2499189" y="30545"/>
                          <a:pt x="2614773" y="0"/>
                        </a:cubicBezTo>
                        <a:cubicBezTo>
                          <a:pt x="2650615" y="124894"/>
                          <a:pt x="2585711" y="337000"/>
                          <a:pt x="2614773" y="483903"/>
                        </a:cubicBezTo>
                        <a:cubicBezTo>
                          <a:pt x="2643835" y="630806"/>
                          <a:pt x="2591463" y="850394"/>
                          <a:pt x="2614773" y="987558"/>
                        </a:cubicBezTo>
                        <a:cubicBezTo>
                          <a:pt x="2469152" y="1048743"/>
                          <a:pt x="2214263" y="954157"/>
                          <a:pt x="2091818" y="987558"/>
                        </a:cubicBezTo>
                        <a:cubicBezTo>
                          <a:pt x="1969374" y="1020959"/>
                          <a:pt x="1700263" y="928660"/>
                          <a:pt x="1516568" y="987558"/>
                        </a:cubicBezTo>
                        <a:cubicBezTo>
                          <a:pt x="1332873" y="1046456"/>
                          <a:pt x="1057485" y="919049"/>
                          <a:pt x="941318" y="987558"/>
                        </a:cubicBezTo>
                        <a:cubicBezTo>
                          <a:pt x="825151" y="1056067"/>
                          <a:pt x="203296" y="910909"/>
                          <a:pt x="0" y="987558"/>
                        </a:cubicBezTo>
                        <a:cubicBezTo>
                          <a:pt x="-61233" y="766513"/>
                          <a:pt x="49539" y="588381"/>
                          <a:pt x="0" y="474028"/>
                        </a:cubicBezTo>
                        <a:cubicBezTo>
                          <a:pt x="-49539" y="359675"/>
                          <a:pt x="55486" y="193184"/>
                          <a:pt x="0" y="0"/>
                        </a:cubicBezTo>
                        <a:close/>
                      </a:path>
                      <a:path w="2614773" h="987558" stroke="0" extrusionOk="0">
                        <a:moveTo>
                          <a:pt x="0" y="0"/>
                        </a:moveTo>
                        <a:cubicBezTo>
                          <a:pt x="120097" y="-24605"/>
                          <a:pt x="377430" y="62788"/>
                          <a:pt x="549102" y="0"/>
                        </a:cubicBezTo>
                        <a:cubicBezTo>
                          <a:pt x="720774" y="-62788"/>
                          <a:pt x="806667" y="41712"/>
                          <a:pt x="1045909" y="0"/>
                        </a:cubicBezTo>
                        <a:cubicBezTo>
                          <a:pt x="1285151" y="-41712"/>
                          <a:pt x="1398984" y="49459"/>
                          <a:pt x="1568864" y="0"/>
                        </a:cubicBezTo>
                        <a:cubicBezTo>
                          <a:pt x="1738745" y="-49459"/>
                          <a:pt x="1825376" y="2591"/>
                          <a:pt x="2039523" y="0"/>
                        </a:cubicBezTo>
                        <a:cubicBezTo>
                          <a:pt x="2253670" y="-2591"/>
                          <a:pt x="2492079" y="45863"/>
                          <a:pt x="2614773" y="0"/>
                        </a:cubicBezTo>
                        <a:cubicBezTo>
                          <a:pt x="2653872" y="127840"/>
                          <a:pt x="2592167" y="332647"/>
                          <a:pt x="2614773" y="474028"/>
                        </a:cubicBezTo>
                        <a:cubicBezTo>
                          <a:pt x="2637379" y="615409"/>
                          <a:pt x="2583604" y="871713"/>
                          <a:pt x="2614773" y="987558"/>
                        </a:cubicBezTo>
                        <a:cubicBezTo>
                          <a:pt x="2401435" y="1028076"/>
                          <a:pt x="2263063" y="933778"/>
                          <a:pt x="2144114" y="987558"/>
                        </a:cubicBezTo>
                        <a:cubicBezTo>
                          <a:pt x="2025165" y="1041338"/>
                          <a:pt x="1912955" y="949737"/>
                          <a:pt x="1699602" y="987558"/>
                        </a:cubicBezTo>
                        <a:cubicBezTo>
                          <a:pt x="1486249" y="1025379"/>
                          <a:pt x="1445219" y="986655"/>
                          <a:pt x="1228943" y="987558"/>
                        </a:cubicBezTo>
                        <a:cubicBezTo>
                          <a:pt x="1012667" y="988461"/>
                          <a:pt x="885006" y="959611"/>
                          <a:pt x="758284" y="987558"/>
                        </a:cubicBezTo>
                        <a:cubicBezTo>
                          <a:pt x="631562" y="1015505"/>
                          <a:pt x="325723" y="932479"/>
                          <a:pt x="0" y="987558"/>
                        </a:cubicBezTo>
                        <a:cubicBezTo>
                          <a:pt x="-12277" y="794818"/>
                          <a:pt x="52337" y="616282"/>
                          <a:pt x="0" y="474028"/>
                        </a:cubicBezTo>
                        <a:cubicBezTo>
                          <a:pt x="-52337" y="331774"/>
                          <a:pt x="41826" y="23579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00" dirty="0">
                <a:solidFill>
                  <a:srgbClr val="FF0000"/>
                </a:solidFill>
              </a:rPr>
              <a:t># drop columns I don't need</a:t>
            </a:r>
          </a:p>
          <a:p>
            <a:pPr marL="0" indent="0">
              <a:buNone/>
            </a:pPr>
            <a:r>
              <a:rPr lang="en-GB" sz="1100" dirty="0" err="1"/>
              <a:t>df</a:t>
            </a:r>
            <a:r>
              <a:rPr lang="en-GB" sz="1100" dirty="0"/>
              <a:t>=</a:t>
            </a:r>
            <a:r>
              <a:rPr lang="en-GB" sz="1100" dirty="0" err="1"/>
              <a:t>df.drop</a:t>
            </a:r>
            <a:r>
              <a:rPr lang="en-GB" sz="1100" dirty="0"/>
              <a:t>(['</a:t>
            </a:r>
            <a:r>
              <a:rPr lang="en-GB" sz="1100" dirty="0" err="1"/>
              <a:t>Age','Gender','Destination','Duration','Claim</a:t>
            </a:r>
            <a:r>
              <a:rPr lang="en-GB" sz="1100" dirty="0"/>
              <a:t>'], axis=1)</a:t>
            </a:r>
            <a:endParaRPr lang="en-GB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079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41C3ECD-2858-F926-03BE-8AFDE7DD69F8}"/>
              </a:ext>
            </a:extLst>
          </p:cNvPr>
          <p:cNvSpPr txBox="1">
            <a:spLocks/>
          </p:cNvSpPr>
          <p:nvPr/>
        </p:nvSpPr>
        <p:spPr>
          <a:xfrm>
            <a:off x="2105425" y="3863951"/>
            <a:ext cx="4057816" cy="2744786"/>
          </a:xfrm>
          <a:prstGeom prst="rect">
            <a:avLst/>
          </a:prstGeom>
          <a:ln>
            <a:solidFill>
              <a:schemeClr val="tx1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2614773"/>
                      <a:gd name="connsiteY0" fmla="*/ 0 h 987558"/>
                      <a:gd name="connsiteX1" fmla="*/ 549102 w 2614773"/>
                      <a:gd name="connsiteY1" fmla="*/ 0 h 987558"/>
                      <a:gd name="connsiteX2" fmla="*/ 1019761 w 2614773"/>
                      <a:gd name="connsiteY2" fmla="*/ 0 h 987558"/>
                      <a:gd name="connsiteX3" fmla="*/ 1595012 w 2614773"/>
                      <a:gd name="connsiteY3" fmla="*/ 0 h 987558"/>
                      <a:gd name="connsiteX4" fmla="*/ 2039523 w 2614773"/>
                      <a:gd name="connsiteY4" fmla="*/ 0 h 987558"/>
                      <a:gd name="connsiteX5" fmla="*/ 2614773 w 2614773"/>
                      <a:gd name="connsiteY5" fmla="*/ 0 h 987558"/>
                      <a:gd name="connsiteX6" fmla="*/ 2614773 w 2614773"/>
                      <a:gd name="connsiteY6" fmla="*/ 483903 h 987558"/>
                      <a:gd name="connsiteX7" fmla="*/ 2614773 w 2614773"/>
                      <a:gd name="connsiteY7" fmla="*/ 987558 h 987558"/>
                      <a:gd name="connsiteX8" fmla="*/ 2091818 w 2614773"/>
                      <a:gd name="connsiteY8" fmla="*/ 987558 h 987558"/>
                      <a:gd name="connsiteX9" fmla="*/ 1516568 w 2614773"/>
                      <a:gd name="connsiteY9" fmla="*/ 987558 h 987558"/>
                      <a:gd name="connsiteX10" fmla="*/ 941318 w 2614773"/>
                      <a:gd name="connsiteY10" fmla="*/ 987558 h 987558"/>
                      <a:gd name="connsiteX11" fmla="*/ 0 w 2614773"/>
                      <a:gd name="connsiteY11" fmla="*/ 987558 h 987558"/>
                      <a:gd name="connsiteX12" fmla="*/ 0 w 2614773"/>
                      <a:gd name="connsiteY12" fmla="*/ 474028 h 987558"/>
                      <a:gd name="connsiteX13" fmla="*/ 0 w 2614773"/>
                      <a:gd name="connsiteY13" fmla="*/ 0 h 9875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614773" h="987558" fill="none" extrusionOk="0">
                        <a:moveTo>
                          <a:pt x="0" y="0"/>
                        </a:moveTo>
                        <a:cubicBezTo>
                          <a:pt x="272706" y="-50999"/>
                          <a:pt x="415512" y="41280"/>
                          <a:pt x="549102" y="0"/>
                        </a:cubicBezTo>
                        <a:cubicBezTo>
                          <a:pt x="682692" y="-41280"/>
                          <a:pt x="860365" y="19295"/>
                          <a:pt x="1019761" y="0"/>
                        </a:cubicBezTo>
                        <a:cubicBezTo>
                          <a:pt x="1179157" y="-19295"/>
                          <a:pt x="1403988" y="12807"/>
                          <a:pt x="1595012" y="0"/>
                        </a:cubicBezTo>
                        <a:cubicBezTo>
                          <a:pt x="1786036" y="-12807"/>
                          <a:pt x="1920767" y="52124"/>
                          <a:pt x="2039523" y="0"/>
                        </a:cubicBezTo>
                        <a:cubicBezTo>
                          <a:pt x="2158279" y="-52124"/>
                          <a:pt x="2499189" y="30545"/>
                          <a:pt x="2614773" y="0"/>
                        </a:cubicBezTo>
                        <a:cubicBezTo>
                          <a:pt x="2650615" y="124894"/>
                          <a:pt x="2585711" y="337000"/>
                          <a:pt x="2614773" y="483903"/>
                        </a:cubicBezTo>
                        <a:cubicBezTo>
                          <a:pt x="2643835" y="630806"/>
                          <a:pt x="2591463" y="850394"/>
                          <a:pt x="2614773" y="987558"/>
                        </a:cubicBezTo>
                        <a:cubicBezTo>
                          <a:pt x="2469152" y="1048743"/>
                          <a:pt x="2214263" y="954157"/>
                          <a:pt x="2091818" y="987558"/>
                        </a:cubicBezTo>
                        <a:cubicBezTo>
                          <a:pt x="1969374" y="1020959"/>
                          <a:pt x="1700263" y="928660"/>
                          <a:pt x="1516568" y="987558"/>
                        </a:cubicBezTo>
                        <a:cubicBezTo>
                          <a:pt x="1332873" y="1046456"/>
                          <a:pt x="1057485" y="919049"/>
                          <a:pt x="941318" y="987558"/>
                        </a:cubicBezTo>
                        <a:cubicBezTo>
                          <a:pt x="825151" y="1056067"/>
                          <a:pt x="203296" y="910909"/>
                          <a:pt x="0" y="987558"/>
                        </a:cubicBezTo>
                        <a:cubicBezTo>
                          <a:pt x="-61233" y="766513"/>
                          <a:pt x="49539" y="588381"/>
                          <a:pt x="0" y="474028"/>
                        </a:cubicBezTo>
                        <a:cubicBezTo>
                          <a:pt x="-49539" y="359675"/>
                          <a:pt x="55486" y="193184"/>
                          <a:pt x="0" y="0"/>
                        </a:cubicBezTo>
                        <a:close/>
                      </a:path>
                      <a:path w="2614773" h="987558" stroke="0" extrusionOk="0">
                        <a:moveTo>
                          <a:pt x="0" y="0"/>
                        </a:moveTo>
                        <a:cubicBezTo>
                          <a:pt x="120097" y="-24605"/>
                          <a:pt x="377430" y="62788"/>
                          <a:pt x="549102" y="0"/>
                        </a:cubicBezTo>
                        <a:cubicBezTo>
                          <a:pt x="720774" y="-62788"/>
                          <a:pt x="806667" y="41712"/>
                          <a:pt x="1045909" y="0"/>
                        </a:cubicBezTo>
                        <a:cubicBezTo>
                          <a:pt x="1285151" y="-41712"/>
                          <a:pt x="1398984" y="49459"/>
                          <a:pt x="1568864" y="0"/>
                        </a:cubicBezTo>
                        <a:cubicBezTo>
                          <a:pt x="1738745" y="-49459"/>
                          <a:pt x="1825376" y="2591"/>
                          <a:pt x="2039523" y="0"/>
                        </a:cubicBezTo>
                        <a:cubicBezTo>
                          <a:pt x="2253670" y="-2591"/>
                          <a:pt x="2492079" y="45863"/>
                          <a:pt x="2614773" y="0"/>
                        </a:cubicBezTo>
                        <a:cubicBezTo>
                          <a:pt x="2653872" y="127840"/>
                          <a:pt x="2592167" y="332647"/>
                          <a:pt x="2614773" y="474028"/>
                        </a:cubicBezTo>
                        <a:cubicBezTo>
                          <a:pt x="2637379" y="615409"/>
                          <a:pt x="2583604" y="871713"/>
                          <a:pt x="2614773" y="987558"/>
                        </a:cubicBezTo>
                        <a:cubicBezTo>
                          <a:pt x="2401435" y="1028076"/>
                          <a:pt x="2263063" y="933778"/>
                          <a:pt x="2144114" y="987558"/>
                        </a:cubicBezTo>
                        <a:cubicBezTo>
                          <a:pt x="2025165" y="1041338"/>
                          <a:pt x="1912955" y="949737"/>
                          <a:pt x="1699602" y="987558"/>
                        </a:cubicBezTo>
                        <a:cubicBezTo>
                          <a:pt x="1486249" y="1025379"/>
                          <a:pt x="1445219" y="986655"/>
                          <a:pt x="1228943" y="987558"/>
                        </a:cubicBezTo>
                        <a:cubicBezTo>
                          <a:pt x="1012667" y="988461"/>
                          <a:pt x="885006" y="959611"/>
                          <a:pt x="758284" y="987558"/>
                        </a:cubicBezTo>
                        <a:cubicBezTo>
                          <a:pt x="631562" y="1015505"/>
                          <a:pt x="325723" y="932479"/>
                          <a:pt x="0" y="987558"/>
                        </a:cubicBezTo>
                        <a:cubicBezTo>
                          <a:pt x="-12277" y="794818"/>
                          <a:pt x="52337" y="616282"/>
                          <a:pt x="0" y="474028"/>
                        </a:cubicBezTo>
                        <a:cubicBezTo>
                          <a:pt x="-52337" y="331774"/>
                          <a:pt x="41826" y="23579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Arial"/>
              <a:buNone/>
              <a:defRPr sz="1100">
                <a:solidFill>
                  <a:srgbClr val="FF0000"/>
                </a:solidFill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GB" sz="1200" dirty="0"/>
              <a:t># plotting gross sales by agency</a:t>
            </a:r>
          </a:p>
          <a:p>
            <a:r>
              <a:rPr lang="en-GB" sz="1200" dirty="0" err="1">
                <a:solidFill>
                  <a:schemeClr val="tx1"/>
                </a:solidFill>
              </a:rPr>
              <a:t>df.groupby</a:t>
            </a:r>
            <a:r>
              <a:rPr lang="en-GB" sz="1200" dirty="0">
                <a:solidFill>
                  <a:schemeClr val="tx1"/>
                </a:solidFill>
              </a:rPr>
              <a:t>('Agency')['</a:t>
            </a:r>
            <a:r>
              <a:rPr lang="en-GB" sz="1200" dirty="0" err="1">
                <a:solidFill>
                  <a:schemeClr val="tx1"/>
                </a:solidFill>
              </a:rPr>
              <a:t>Gross_Sales</a:t>
            </a:r>
            <a:r>
              <a:rPr lang="en-GB" sz="1200" dirty="0">
                <a:solidFill>
                  <a:schemeClr val="tx1"/>
                </a:solidFill>
              </a:rPr>
              <a:t>'].sum() .</a:t>
            </a:r>
            <a:r>
              <a:rPr lang="en-GB" sz="1200" dirty="0" err="1">
                <a:solidFill>
                  <a:schemeClr val="tx1"/>
                </a:solidFill>
              </a:rPr>
              <a:t>sort_values</a:t>
            </a:r>
            <a:r>
              <a:rPr lang="en-GB" sz="1200" dirty="0">
                <a:solidFill>
                  <a:schemeClr val="tx1"/>
                </a:solidFill>
              </a:rPr>
              <a:t>(ascending=False).plot(kind='bar', </a:t>
            </a:r>
            <a:r>
              <a:rPr lang="en-GB" sz="1200" dirty="0" err="1">
                <a:solidFill>
                  <a:schemeClr val="tx1"/>
                </a:solidFill>
              </a:rPr>
              <a:t>color</a:t>
            </a:r>
            <a:r>
              <a:rPr lang="en-GB" sz="1200" dirty="0">
                <a:solidFill>
                  <a:schemeClr val="tx1"/>
                </a:solidFill>
              </a:rPr>
              <a:t>='</a:t>
            </a:r>
            <a:r>
              <a:rPr lang="en-GB" sz="1200" dirty="0" err="1">
                <a:solidFill>
                  <a:schemeClr val="tx1"/>
                </a:solidFill>
              </a:rPr>
              <a:t>skyblue</a:t>
            </a:r>
            <a:r>
              <a:rPr lang="en-GB" sz="1200" dirty="0">
                <a:solidFill>
                  <a:schemeClr val="tx1"/>
                </a:solidFill>
              </a:rPr>
              <a:t>', label='Gross Sales')</a:t>
            </a:r>
          </a:p>
          <a:p>
            <a:endParaRPr lang="en-GB" sz="1200" dirty="0"/>
          </a:p>
          <a:p>
            <a:r>
              <a:rPr lang="en-GB" sz="1200" dirty="0"/>
              <a:t># full numbers not scientific notation</a:t>
            </a:r>
          </a:p>
          <a:p>
            <a:r>
              <a:rPr lang="en-GB" sz="1200" dirty="0" err="1">
                <a:solidFill>
                  <a:schemeClr val="tx1"/>
                </a:solidFill>
              </a:rPr>
              <a:t>plt.ticklabel_format</a:t>
            </a:r>
            <a:r>
              <a:rPr lang="en-GB" sz="1200" dirty="0">
                <a:solidFill>
                  <a:schemeClr val="tx1"/>
                </a:solidFill>
              </a:rPr>
              <a:t>(style='plain', axis='y')</a:t>
            </a:r>
          </a:p>
          <a:p>
            <a:endParaRPr lang="en-GB" sz="1200" dirty="0">
              <a:solidFill>
                <a:schemeClr val="tx1"/>
              </a:solidFill>
            </a:endParaRPr>
          </a:p>
          <a:p>
            <a:r>
              <a:rPr lang="en-GB" sz="1200" dirty="0" err="1">
                <a:solidFill>
                  <a:schemeClr val="tx1"/>
                </a:solidFill>
              </a:rPr>
              <a:t>plt.ylabel</a:t>
            </a:r>
            <a:r>
              <a:rPr lang="en-GB" sz="1200" dirty="0">
                <a:solidFill>
                  <a:schemeClr val="tx1"/>
                </a:solidFill>
              </a:rPr>
              <a:t>('Gross Sales')</a:t>
            </a:r>
          </a:p>
          <a:p>
            <a:r>
              <a:rPr lang="en-GB" sz="1200" dirty="0" err="1">
                <a:solidFill>
                  <a:schemeClr val="tx1"/>
                </a:solidFill>
              </a:rPr>
              <a:t>plt.title</a:t>
            </a:r>
            <a:r>
              <a:rPr lang="en-GB" sz="1200" dirty="0">
                <a:solidFill>
                  <a:schemeClr val="tx1"/>
                </a:solidFill>
              </a:rPr>
              <a:t>('Gross Sales by Agency')</a:t>
            </a:r>
          </a:p>
          <a:p>
            <a:r>
              <a:rPr lang="en-GB" sz="1200" dirty="0" err="1">
                <a:solidFill>
                  <a:schemeClr val="tx1"/>
                </a:solidFill>
              </a:rPr>
              <a:t>plt.legend</a:t>
            </a:r>
            <a:r>
              <a:rPr lang="en-GB" sz="1200" dirty="0">
                <a:solidFill>
                  <a:schemeClr val="tx1"/>
                </a:solidFill>
              </a:rPr>
              <a:t>()</a:t>
            </a:r>
          </a:p>
          <a:p>
            <a:r>
              <a:rPr lang="en-GB" sz="1200" dirty="0" err="1">
                <a:solidFill>
                  <a:schemeClr val="tx1"/>
                </a:solidFill>
              </a:rPr>
              <a:t>plt.show</a:t>
            </a:r>
            <a:r>
              <a:rPr lang="en-GB" sz="1200" dirty="0">
                <a:solidFill>
                  <a:schemeClr val="tx1"/>
                </a:solidFill>
              </a:rPr>
              <a:t>()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7656495-5371-24A7-693A-616C0A64D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549" y="4002239"/>
            <a:ext cx="2676572" cy="2363119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17AA7B0-C232-51D3-D177-BE844AE7A76F}"/>
              </a:ext>
            </a:extLst>
          </p:cNvPr>
          <p:cNvSpPr txBox="1">
            <a:spLocks/>
          </p:cNvSpPr>
          <p:nvPr/>
        </p:nvSpPr>
        <p:spPr>
          <a:xfrm>
            <a:off x="2105425" y="1854851"/>
            <a:ext cx="4057816" cy="1116740"/>
          </a:xfrm>
          <a:prstGeom prst="rect">
            <a:avLst/>
          </a:prstGeom>
          <a:ln>
            <a:solidFill>
              <a:schemeClr val="tx1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2614773"/>
                      <a:gd name="connsiteY0" fmla="*/ 0 h 987558"/>
                      <a:gd name="connsiteX1" fmla="*/ 549102 w 2614773"/>
                      <a:gd name="connsiteY1" fmla="*/ 0 h 987558"/>
                      <a:gd name="connsiteX2" fmla="*/ 1019761 w 2614773"/>
                      <a:gd name="connsiteY2" fmla="*/ 0 h 987558"/>
                      <a:gd name="connsiteX3" fmla="*/ 1595012 w 2614773"/>
                      <a:gd name="connsiteY3" fmla="*/ 0 h 987558"/>
                      <a:gd name="connsiteX4" fmla="*/ 2039523 w 2614773"/>
                      <a:gd name="connsiteY4" fmla="*/ 0 h 987558"/>
                      <a:gd name="connsiteX5" fmla="*/ 2614773 w 2614773"/>
                      <a:gd name="connsiteY5" fmla="*/ 0 h 987558"/>
                      <a:gd name="connsiteX6" fmla="*/ 2614773 w 2614773"/>
                      <a:gd name="connsiteY6" fmla="*/ 483903 h 987558"/>
                      <a:gd name="connsiteX7" fmla="*/ 2614773 w 2614773"/>
                      <a:gd name="connsiteY7" fmla="*/ 987558 h 987558"/>
                      <a:gd name="connsiteX8" fmla="*/ 2091818 w 2614773"/>
                      <a:gd name="connsiteY8" fmla="*/ 987558 h 987558"/>
                      <a:gd name="connsiteX9" fmla="*/ 1516568 w 2614773"/>
                      <a:gd name="connsiteY9" fmla="*/ 987558 h 987558"/>
                      <a:gd name="connsiteX10" fmla="*/ 941318 w 2614773"/>
                      <a:gd name="connsiteY10" fmla="*/ 987558 h 987558"/>
                      <a:gd name="connsiteX11" fmla="*/ 0 w 2614773"/>
                      <a:gd name="connsiteY11" fmla="*/ 987558 h 987558"/>
                      <a:gd name="connsiteX12" fmla="*/ 0 w 2614773"/>
                      <a:gd name="connsiteY12" fmla="*/ 474028 h 987558"/>
                      <a:gd name="connsiteX13" fmla="*/ 0 w 2614773"/>
                      <a:gd name="connsiteY13" fmla="*/ 0 h 9875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614773" h="987558" fill="none" extrusionOk="0">
                        <a:moveTo>
                          <a:pt x="0" y="0"/>
                        </a:moveTo>
                        <a:cubicBezTo>
                          <a:pt x="272706" y="-50999"/>
                          <a:pt x="415512" y="41280"/>
                          <a:pt x="549102" y="0"/>
                        </a:cubicBezTo>
                        <a:cubicBezTo>
                          <a:pt x="682692" y="-41280"/>
                          <a:pt x="860365" y="19295"/>
                          <a:pt x="1019761" y="0"/>
                        </a:cubicBezTo>
                        <a:cubicBezTo>
                          <a:pt x="1179157" y="-19295"/>
                          <a:pt x="1403988" y="12807"/>
                          <a:pt x="1595012" y="0"/>
                        </a:cubicBezTo>
                        <a:cubicBezTo>
                          <a:pt x="1786036" y="-12807"/>
                          <a:pt x="1920767" y="52124"/>
                          <a:pt x="2039523" y="0"/>
                        </a:cubicBezTo>
                        <a:cubicBezTo>
                          <a:pt x="2158279" y="-52124"/>
                          <a:pt x="2499189" y="30545"/>
                          <a:pt x="2614773" y="0"/>
                        </a:cubicBezTo>
                        <a:cubicBezTo>
                          <a:pt x="2650615" y="124894"/>
                          <a:pt x="2585711" y="337000"/>
                          <a:pt x="2614773" y="483903"/>
                        </a:cubicBezTo>
                        <a:cubicBezTo>
                          <a:pt x="2643835" y="630806"/>
                          <a:pt x="2591463" y="850394"/>
                          <a:pt x="2614773" y="987558"/>
                        </a:cubicBezTo>
                        <a:cubicBezTo>
                          <a:pt x="2469152" y="1048743"/>
                          <a:pt x="2214263" y="954157"/>
                          <a:pt x="2091818" y="987558"/>
                        </a:cubicBezTo>
                        <a:cubicBezTo>
                          <a:pt x="1969374" y="1020959"/>
                          <a:pt x="1700263" y="928660"/>
                          <a:pt x="1516568" y="987558"/>
                        </a:cubicBezTo>
                        <a:cubicBezTo>
                          <a:pt x="1332873" y="1046456"/>
                          <a:pt x="1057485" y="919049"/>
                          <a:pt x="941318" y="987558"/>
                        </a:cubicBezTo>
                        <a:cubicBezTo>
                          <a:pt x="825151" y="1056067"/>
                          <a:pt x="203296" y="910909"/>
                          <a:pt x="0" y="987558"/>
                        </a:cubicBezTo>
                        <a:cubicBezTo>
                          <a:pt x="-61233" y="766513"/>
                          <a:pt x="49539" y="588381"/>
                          <a:pt x="0" y="474028"/>
                        </a:cubicBezTo>
                        <a:cubicBezTo>
                          <a:pt x="-49539" y="359675"/>
                          <a:pt x="55486" y="193184"/>
                          <a:pt x="0" y="0"/>
                        </a:cubicBezTo>
                        <a:close/>
                      </a:path>
                      <a:path w="2614773" h="987558" stroke="0" extrusionOk="0">
                        <a:moveTo>
                          <a:pt x="0" y="0"/>
                        </a:moveTo>
                        <a:cubicBezTo>
                          <a:pt x="120097" y="-24605"/>
                          <a:pt x="377430" y="62788"/>
                          <a:pt x="549102" y="0"/>
                        </a:cubicBezTo>
                        <a:cubicBezTo>
                          <a:pt x="720774" y="-62788"/>
                          <a:pt x="806667" y="41712"/>
                          <a:pt x="1045909" y="0"/>
                        </a:cubicBezTo>
                        <a:cubicBezTo>
                          <a:pt x="1285151" y="-41712"/>
                          <a:pt x="1398984" y="49459"/>
                          <a:pt x="1568864" y="0"/>
                        </a:cubicBezTo>
                        <a:cubicBezTo>
                          <a:pt x="1738745" y="-49459"/>
                          <a:pt x="1825376" y="2591"/>
                          <a:pt x="2039523" y="0"/>
                        </a:cubicBezTo>
                        <a:cubicBezTo>
                          <a:pt x="2253670" y="-2591"/>
                          <a:pt x="2492079" y="45863"/>
                          <a:pt x="2614773" y="0"/>
                        </a:cubicBezTo>
                        <a:cubicBezTo>
                          <a:pt x="2653872" y="127840"/>
                          <a:pt x="2592167" y="332647"/>
                          <a:pt x="2614773" y="474028"/>
                        </a:cubicBezTo>
                        <a:cubicBezTo>
                          <a:pt x="2637379" y="615409"/>
                          <a:pt x="2583604" y="871713"/>
                          <a:pt x="2614773" y="987558"/>
                        </a:cubicBezTo>
                        <a:cubicBezTo>
                          <a:pt x="2401435" y="1028076"/>
                          <a:pt x="2263063" y="933778"/>
                          <a:pt x="2144114" y="987558"/>
                        </a:cubicBezTo>
                        <a:cubicBezTo>
                          <a:pt x="2025165" y="1041338"/>
                          <a:pt x="1912955" y="949737"/>
                          <a:pt x="1699602" y="987558"/>
                        </a:cubicBezTo>
                        <a:cubicBezTo>
                          <a:pt x="1486249" y="1025379"/>
                          <a:pt x="1445219" y="986655"/>
                          <a:pt x="1228943" y="987558"/>
                        </a:cubicBezTo>
                        <a:cubicBezTo>
                          <a:pt x="1012667" y="988461"/>
                          <a:pt x="885006" y="959611"/>
                          <a:pt x="758284" y="987558"/>
                        </a:cubicBezTo>
                        <a:cubicBezTo>
                          <a:pt x="631562" y="1015505"/>
                          <a:pt x="325723" y="932479"/>
                          <a:pt x="0" y="987558"/>
                        </a:cubicBezTo>
                        <a:cubicBezTo>
                          <a:pt x="-12277" y="794818"/>
                          <a:pt x="52337" y="616282"/>
                          <a:pt x="0" y="474028"/>
                        </a:cubicBezTo>
                        <a:cubicBezTo>
                          <a:pt x="-52337" y="331774"/>
                          <a:pt x="41826" y="23579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Arial"/>
              <a:buNone/>
              <a:defRPr sz="1100">
                <a:solidFill>
                  <a:srgbClr val="FF0000"/>
                </a:solidFill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US" dirty="0"/>
              <a:t>#Group </a:t>
            </a:r>
            <a:r>
              <a:rPr lang="en-US" dirty="0" err="1"/>
              <a:t>Gross_Sales</a:t>
            </a:r>
            <a:r>
              <a:rPr lang="en-US" dirty="0"/>
              <a:t> by Agency</a:t>
            </a:r>
          </a:p>
          <a:p>
            <a:r>
              <a:rPr lang="en-US" dirty="0" err="1">
                <a:solidFill>
                  <a:schemeClr val="tx1"/>
                </a:solidFill>
              </a:rPr>
              <a:t>Gross_by_agency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df.groupby</a:t>
            </a:r>
            <a:r>
              <a:rPr lang="en-US" dirty="0">
                <a:solidFill>
                  <a:schemeClr val="tx1"/>
                </a:solidFill>
              </a:rPr>
              <a:t>('Agency')['</a:t>
            </a:r>
            <a:r>
              <a:rPr lang="en-US" dirty="0" err="1">
                <a:solidFill>
                  <a:schemeClr val="tx1"/>
                </a:solidFill>
              </a:rPr>
              <a:t>Gross_Sales</a:t>
            </a:r>
            <a:r>
              <a:rPr lang="en-US" dirty="0">
                <a:solidFill>
                  <a:schemeClr val="tx1"/>
                </a:solidFill>
              </a:rPr>
              <a:t>'].sum().</a:t>
            </a:r>
            <a:r>
              <a:rPr lang="en-US" dirty="0" err="1">
                <a:solidFill>
                  <a:schemeClr val="tx1"/>
                </a:solidFill>
              </a:rPr>
              <a:t>sort_values</a:t>
            </a:r>
            <a:r>
              <a:rPr lang="en-US" dirty="0">
                <a:solidFill>
                  <a:schemeClr val="tx1"/>
                </a:solidFill>
              </a:rPr>
              <a:t>(ascending=False).</a:t>
            </a:r>
            <a:r>
              <a:rPr lang="en-US" dirty="0" err="1">
                <a:solidFill>
                  <a:schemeClr val="tx1"/>
                </a:solidFill>
              </a:rPr>
              <a:t>astype</a:t>
            </a:r>
            <a:r>
              <a:rPr lang="en-US" dirty="0">
                <a:solidFill>
                  <a:schemeClr val="tx1"/>
                </a:solidFill>
              </a:rPr>
              <a:t>(int)</a:t>
            </a:r>
          </a:p>
          <a:p>
            <a:r>
              <a:rPr lang="en-US" dirty="0">
                <a:solidFill>
                  <a:schemeClr val="tx1"/>
                </a:solidFill>
              </a:rPr>
              <a:t>print(</a:t>
            </a:r>
            <a:r>
              <a:rPr lang="en-US" dirty="0" err="1">
                <a:solidFill>
                  <a:schemeClr val="tx1"/>
                </a:solidFill>
              </a:rPr>
              <a:t>f'Gross</a:t>
            </a:r>
            <a:r>
              <a:rPr lang="en-US" dirty="0">
                <a:solidFill>
                  <a:schemeClr val="tx1"/>
                </a:solidFill>
              </a:rPr>
              <a:t> Sales by agency is:\n {</a:t>
            </a:r>
            <a:r>
              <a:rPr lang="en-US" dirty="0" err="1">
                <a:solidFill>
                  <a:schemeClr val="tx1"/>
                </a:solidFill>
              </a:rPr>
              <a:t>Gross_by_agency</a:t>
            </a:r>
            <a:r>
              <a:rPr lang="en-US" dirty="0">
                <a:solidFill>
                  <a:schemeClr val="tx1"/>
                </a:solidFill>
              </a:rPr>
              <a:t>}')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0DAC88-22EF-6DB1-980A-2C4BD968F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575" y="1115820"/>
            <a:ext cx="1474489" cy="203980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D010411-CCC2-565B-6B61-B0A26F71E79E}"/>
              </a:ext>
            </a:extLst>
          </p:cNvPr>
          <p:cNvSpPr txBox="1">
            <a:spLocks/>
          </p:cNvSpPr>
          <p:nvPr/>
        </p:nvSpPr>
        <p:spPr>
          <a:xfrm>
            <a:off x="2105425" y="407637"/>
            <a:ext cx="4057816" cy="615547"/>
          </a:xfrm>
          <a:prstGeom prst="rect">
            <a:avLst/>
          </a:prstGeom>
          <a:ln>
            <a:solidFill>
              <a:schemeClr val="tx1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2614773"/>
                      <a:gd name="connsiteY0" fmla="*/ 0 h 987558"/>
                      <a:gd name="connsiteX1" fmla="*/ 549102 w 2614773"/>
                      <a:gd name="connsiteY1" fmla="*/ 0 h 987558"/>
                      <a:gd name="connsiteX2" fmla="*/ 1019761 w 2614773"/>
                      <a:gd name="connsiteY2" fmla="*/ 0 h 987558"/>
                      <a:gd name="connsiteX3" fmla="*/ 1595012 w 2614773"/>
                      <a:gd name="connsiteY3" fmla="*/ 0 h 987558"/>
                      <a:gd name="connsiteX4" fmla="*/ 2039523 w 2614773"/>
                      <a:gd name="connsiteY4" fmla="*/ 0 h 987558"/>
                      <a:gd name="connsiteX5" fmla="*/ 2614773 w 2614773"/>
                      <a:gd name="connsiteY5" fmla="*/ 0 h 987558"/>
                      <a:gd name="connsiteX6" fmla="*/ 2614773 w 2614773"/>
                      <a:gd name="connsiteY6" fmla="*/ 483903 h 987558"/>
                      <a:gd name="connsiteX7" fmla="*/ 2614773 w 2614773"/>
                      <a:gd name="connsiteY7" fmla="*/ 987558 h 987558"/>
                      <a:gd name="connsiteX8" fmla="*/ 2091818 w 2614773"/>
                      <a:gd name="connsiteY8" fmla="*/ 987558 h 987558"/>
                      <a:gd name="connsiteX9" fmla="*/ 1516568 w 2614773"/>
                      <a:gd name="connsiteY9" fmla="*/ 987558 h 987558"/>
                      <a:gd name="connsiteX10" fmla="*/ 941318 w 2614773"/>
                      <a:gd name="connsiteY10" fmla="*/ 987558 h 987558"/>
                      <a:gd name="connsiteX11" fmla="*/ 0 w 2614773"/>
                      <a:gd name="connsiteY11" fmla="*/ 987558 h 987558"/>
                      <a:gd name="connsiteX12" fmla="*/ 0 w 2614773"/>
                      <a:gd name="connsiteY12" fmla="*/ 474028 h 987558"/>
                      <a:gd name="connsiteX13" fmla="*/ 0 w 2614773"/>
                      <a:gd name="connsiteY13" fmla="*/ 0 h 9875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614773" h="987558" fill="none" extrusionOk="0">
                        <a:moveTo>
                          <a:pt x="0" y="0"/>
                        </a:moveTo>
                        <a:cubicBezTo>
                          <a:pt x="272706" y="-50999"/>
                          <a:pt x="415512" y="41280"/>
                          <a:pt x="549102" y="0"/>
                        </a:cubicBezTo>
                        <a:cubicBezTo>
                          <a:pt x="682692" y="-41280"/>
                          <a:pt x="860365" y="19295"/>
                          <a:pt x="1019761" y="0"/>
                        </a:cubicBezTo>
                        <a:cubicBezTo>
                          <a:pt x="1179157" y="-19295"/>
                          <a:pt x="1403988" y="12807"/>
                          <a:pt x="1595012" y="0"/>
                        </a:cubicBezTo>
                        <a:cubicBezTo>
                          <a:pt x="1786036" y="-12807"/>
                          <a:pt x="1920767" y="52124"/>
                          <a:pt x="2039523" y="0"/>
                        </a:cubicBezTo>
                        <a:cubicBezTo>
                          <a:pt x="2158279" y="-52124"/>
                          <a:pt x="2499189" y="30545"/>
                          <a:pt x="2614773" y="0"/>
                        </a:cubicBezTo>
                        <a:cubicBezTo>
                          <a:pt x="2650615" y="124894"/>
                          <a:pt x="2585711" y="337000"/>
                          <a:pt x="2614773" y="483903"/>
                        </a:cubicBezTo>
                        <a:cubicBezTo>
                          <a:pt x="2643835" y="630806"/>
                          <a:pt x="2591463" y="850394"/>
                          <a:pt x="2614773" y="987558"/>
                        </a:cubicBezTo>
                        <a:cubicBezTo>
                          <a:pt x="2469152" y="1048743"/>
                          <a:pt x="2214263" y="954157"/>
                          <a:pt x="2091818" y="987558"/>
                        </a:cubicBezTo>
                        <a:cubicBezTo>
                          <a:pt x="1969374" y="1020959"/>
                          <a:pt x="1700263" y="928660"/>
                          <a:pt x="1516568" y="987558"/>
                        </a:cubicBezTo>
                        <a:cubicBezTo>
                          <a:pt x="1332873" y="1046456"/>
                          <a:pt x="1057485" y="919049"/>
                          <a:pt x="941318" y="987558"/>
                        </a:cubicBezTo>
                        <a:cubicBezTo>
                          <a:pt x="825151" y="1056067"/>
                          <a:pt x="203296" y="910909"/>
                          <a:pt x="0" y="987558"/>
                        </a:cubicBezTo>
                        <a:cubicBezTo>
                          <a:pt x="-61233" y="766513"/>
                          <a:pt x="49539" y="588381"/>
                          <a:pt x="0" y="474028"/>
                        </a:cubicBezTo>
                        <a:cubicBezTo>
                          <a:pt x="-49539" y="359675"/>
                          <a:pt x="55486" y="193184"/>
                          <a:pt x="0" y="0"/>
                        </a:cubicBezTo>
                        <a:close/>
                      </a:path>
                      <a:path w="2614773" h="987558" stroke="0" extrusionOk="0">
                        <a:moveTo>
                          <a:pt x="0" y="0"/>
                        </a:moveTo>
                        <a:cubicBezTo>
                          <a:pt x="120097" y="-24605"/>
                          <a:pt x="377430" y="62788"/>
                          <a:pt x="549102" y="0"/>
                        </a:cubicBezTo>
                        <a:cubicBezTo>
                          <a:pt x="720774" y="-62788"/>
                          <a:pt x="806667" y="41712"/>
                          <a:pt x="1045909" y="0"/>
                        </a:cubicBezTo>
                        <a:cubicBezTo>
                          <a:pt x="1285151" y="-41712"/>
                          <a:pt x="1398984" y="49459"/>
                          <a:pt x="1568864" y="0"/>
                        </a:cubicBezTo>
                        <a:cubicBezTo>
                          <a:pt x="1738745" y="-49459"/>
                          <a:pt x="1825376" y="2591"/>
                          <a:pt x="2039523" y="0"/>
                        </a:cubicBezTo>
                        <a:cubicBezTo>
                          <a:pt x="2253670" y="-2591"/>
                          <a:pt x="2492079" y="45863"/>
                          <a:pt x="2614773" y="0"/>
                        </a:cubicBezTo>
                        <a:cubicBezTo>
                          <a:pt x="2653872" y="127840"/>
                          <a:pt x="2592167" y="332647"/>
                          <a:pt x="2614773" y="474028"/>
                        </a:cubicBezTo>
                        <a:cubicBezTo>
                          <a:pt x="2637379" y="615409"/>
                          <a:pt x="2583604" y="871713"/>
                          <a:pt x="2614773" y="987558"/>
                        </a:cubicBezTo>
                        <a:cubicBezTo>
                          <a:pt x="2401435" y="1028076"/>
                          <a:pt x="2263063" y="933778"/>
                          <a:pt x="2144114" y="987558"/>
                        </a:cubicBezTo>
                        <a:cubicBezTo>
                          <a:pt x="2025165" y="1041338"/>
                          <a:pt x="1912955" y="949737"/>
                          <a:pt x="1699602" y="987558"/>
                        </a:cubicBezTo>
                        <a:cubicBezTo>
                          <a:pt x="1486249" y="1025379"/>
                          <a:pt x="1445219" y="986655"/>
                          <a:pt x="1228943" y="987558"/>
                        </a:cubicBezTo>
                        <a:cubicBezTo>
                          <a:pt x="1012667" y="988461"/>
                          <a:pt x="885006" y="959611"/>
                          <a:pt x="758284" y="987558"/>
                        </a:cubicBezTo>
                        <a:cubicBezTo>
                          <a:pt x="631562" y="1015505"/>
                          <a:pt x="325723" y="932479"/>
                          <a:pt x="0" y="987558"/>
                        </a:cubicBezTo>
                        <a:cubicBezTo>
                          <a:pt x="-12277" y="794818"/>
                          <a:pt x="52337" y="616282"/>
                          <a:pt x="0" y="474028"/>
                        </a:cubicBezTo>
                        <a:cubicBezTo>
                          <a:pt x="-52337" y="331774"/>
                          <a:pt x="41826" y="23579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FF0000"/>
                </a:solidFill>
              </a:rPr>
              <a:t>#create </a:t>
            </a:r>
            <a:r>
              <a:rPr lang="en-US" sz="1100" dirty="0" err="1">
                <a:solidFill>
                  <a:srgbClr val="FF0000"/>
                </a:solidFill>
              </a:rPr>
              <a:t>Gross_Sales</a:t>
            </a:r>
            <a:r>
              <a:rPr lang="en-US" sz="1100" dirty="0">
                <a:solidFill>
                  <a:srgbClr val="FF0000"/>
                </a:solidFill>
              </a:rPr>
              <a:t> column</a:t>
            </a:r>
          </a:p>
          <a:p>
            <a:pPr marL="0" indent="0">
              <a:buNone/>
            </a:pPr>
            <a:r>
              <a:rPr lang="en-US" sz="1100" dirty="0" err="1"/>
              <a:t>df</a:t>
            </a:r>
            <a:r>
              <a:rPr lang="en-US" sz="1100" dirty="0"/>
              <a:t>['</a:t>
            </a:r>
            <a:r>
              <a:rPr lang="en-US" sz="1100" dirty="0" err="1"/>
              <a:t>Gross_Sales</a:t>
            </a:r>
            <a:r>
              <a:rPr lang="en-US" sz="1100" dirty="0"/>
              <a:t>']= </a:t>
            </a:r>
            <a:r>
              <a:rPr lang="en-US" sz="1100" dirty="0" err="1"/>
              <a:t>df</a:t>
            </a:r>
            <a:r>
              <a:rPr lang="en-US" sz="1100" dirty="0"/>
              <a:t>['</a:t>
            </a:r>
            <a:r>
              <a:rPr lang="en-US" sz="1100" dirty="0" err="1"/>
              <a:t>Net_Sales</a:t>
            </a:r>
            <a:r>
              <a:rPr lang="en-US" sz="1100" dirty="0"/>
              <a:t>'] + </a:t>
            </a:r>
            <a:r>
              <a:rPr lang="en-US" sz="1100" dirty="0" err="1"/>
              <a:t>df</a:t>
            </a:r>
            <a:r>
              <a:rPr lang="en-US" sz="1100" dirty="0"/>
              <a:t>['</a:t>
            </a:r>
            <a:r>
              <a:rPr lang="en-US" sz="1100" dirty="0" err="1"/>
              <a:t>Commission_Value</a:t>
            </a:r>
            <a:r>
              <a:rPr lang="en-US" sz="1100" dirty="0"/>
              <a:t>']</a:t>
            </a:r>
          </a:p>
          <a:p>
            <a:pPr marL="0" indent="0">
              <a:buNone/>
            </a:pPr>
            <a:endParaRPr lang="en-GB" sz="8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34C8E4-242D-2129-8590-78B319C80C25}"/>
              </a:ext>
            </a:extLst>
          </p:cNvPr>
          <p:cNvSpPr txBox="1"/>
          <p:nvPr/>
        </p:nvSpPr>
        <p:spPr>
          <a:xfrm>
            <a:off x="169988" y="376853"/>
            <a:ext cx="2258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Create new </a:t>
            </a:r>
          </a:p>
          <a:p>
            <a:r>
              <a:rPr lang="en-GB" dirty="0"/>
              <a:t>      column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957FF3-5BC4-7661-C4E4-ACAB39AA1980}"/>
              </a:ext>
            </a:extLst>
          </p:cNvPr>
          <p:cNvSpPr txBox="1"/>
          <p:nvPr/>
        </p:nvSpPr>
        <p:spPr>
          <a:xfrm>
            <a:off x="169988" y="2228555"/>
            <a:ext cx="1750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Apply grouping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DC911B-858C-FEE7-91A4-AF5D15670501}"/>
              </a:ext>
            </a:extLst>
          </p:cNvPr>
          <p:cNvSpPr txBox="1"/>
          <p:nvPr/>
        </p:nvSpPr>
        <p:spPr>
          <a:xfrm>
            <a:off x="169988" y="5002212"/>
            <a:ext cx="1499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Visualize data</a:t>
            </a:r>
          </a:p>
        </p:txBody>
      </p:sp>
    </p:spTree>
    <p:extLst>
      <p:ext uri="{BB962C8B-B14F-4D97-AF65-F5344CB8AC3E}">
        <p14:creationId xmlns:p14="http://schemas.microsoft.com/office/powerpoint/2010/main" val="3626770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5C41FA-EFA3-71EA-B16C-BFB0D73861A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996209" y="3098928"/>
            <a:ext cx="3271841" cy="2331211"/>
          </a:xfrm>
          <a:prstGeom prst="rect">
            <a:avLst/>
          </a:prstGeom>
          <a:ln>
            <a:solidFill>
              <a:schemeClr val="tx1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2614773"/>
                      <a:gd name="connsiteY0" fmla="*/ 0 h 987558"/>
                      <a:gd name="connsiteX1" fmla="*/ 549102 w 2614773"/>
                      <a:gd name="connsiteY1" fmla="*/ 0 h 987558"/>
                      <a:gd name="connsiteX2" fmla="*/ 1019761 w 2614773"/>
                      <a:gd name="connsiteY2" fmla="*/ 0 h 987558"/>
                      <a:gd name="connsiteX3" fmla="*/ 1595012 w 2614773"/>
                      <a:gd name="connsiteY3" fmla="*/ 0 h 987558"/>
                      <a:gd name="connsiteX4" fmla="*/ 2039523 w 2614773"/>
                      <a:gd name="connsiteY4" fmla="*/ 0 h 987558"/>
                      <a:gd name="connsiteX5" fmla="*/ 2614773 w 2614773"/>
                      <a:gd name="connsiteY5" fmla="*/ 0 h 987558"/>
                      <a:gd name="connsiteX6" fmla="*/ 2614773 w 2614773"/>
                      <a:gd name="connsiteY6" fmla="*/ 483903 h 987558"/>
                      <a:gd name="connsiteX7" fmla="*/ 2614773 w 2614773"/>
                      <a:gd name="connsiteY7" fmla="*/ 987558 h 987558"/>
                      <a:gd name="connsiteX8" fmla="*/ 2091818 w 2614773"/>
                      <a:gd name="connsiteY8" fmla="*/ 987558 h 987558"/>
                      <a:gd name="connsiteX9" fmla="*/ 1516568 w 2614773"/>
                      <a:gd name="connsiteY9" fmla="*/ 987558 h 987558"/>
                      <a:gd name="connsiteX10" fmla="*/ 941318 w 2614773"/>
                      <a:gd name="connsiteY10" fmla="*/ 987558 h 987558"/>
                      <a:gd name="connsiteX11" fmla="*/ 0 w 2614773"/>
                      <a:gd name="connsiteY11" fmla="*/ 987558 h 987558"/>
                      <a:gd name="connsiteX12" fmla="*/ 0 w 2614773"/>
                      <a:gd name="connsiteY12" fmla="*/ 474028 h 987558"/>
                      <a:gd name="connsiteX13" fmla="*/ 0 w 2614773"/>
                      <a:gd name="connsiteY13" fmla="*/ 0 h 9875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614773" h="987558" fill="none" extrusionOk="0">
                        <a:moveTo>
                          <a:pt x="0" y="0"/>
                        </a:moveTo>
                        <a:cubicBezTo>
                          <a:pt x="272706" y="-50999"/>
                          <a:pt x="415512" y="41280"/>
                          <a:pt x="549102" y="0"/>
                        </a:cubicBezTo>
                        <a:cubicBezTo>
                          <a:pt x="682692" y="-41280"/>
                          <a:pt x="860365" y="19295"/>
                          <a:pt x="1019761" y="0"/>
                        </a:cubicBezTo>
                        <a:cubicBezTo>
                          <a:pt x="1179157" y="-19295"/>
                          <a:pt x="1403988" y="12807"/>
                          <a:pt x="1595012" y="0"/>
                        </a:cubicBezTo>
                        <a:cubicBezTo>
                          <a:pt x="1786036" y="-12807"/>
                          <a:pt x="1920767" y="52124"/>
                          <a:pt x="2039523" y="0"/>
                        </a:cubicBezTo>
                        <a:cubicBezTo>
                          <a:pt x="2158279" y="-52124"/>
                          <a:pt x="2499189" y="30545"/>
                          <a:pt x="2614773" y="0"/>
                        </a:cubicBezTo>
                        <a:cubicBezTo>
                          <a:pt x="2650615" y="124894"/>
                          <a:pt x="2585711" y="337000"/>
                          <a:pt x="2614773" y="483903"/>
                        </a:cubicBezTo>
                        <a:cubicBezTo>
                          <a:pt x="2643835" y="630806"/>
                          <a:pt x="2591463" y="850394"/>
                          <a:pt x="2614773" y="987558"/>
                        </a:cubicBezTo>
                        <a:cubicBezTo>
                          <a:pt x="2469152" y="1048743"/>
                          <a:pt x="2214263" y="954157"/>
                          <a:pt x="2091818" y="987558"/>
                        </a:cubicBezTo>
                        <a:cubicBezTo>
                          <a:pt x="1969374" y="1020959"/>
                          <a:pt x="1700263" y="928660"/>
                          <a:pt x="1516568" y="987558"/>
                        </a:cubicBezTo>
                        <a:cubicBezTo>
                          <a:pt x="1332873" y="1046456"/>
                          <a:pt x="1057485" y="919049"/>
                          <a:pt x="941318" y="987558"/>
                        </a:cubicBezTo>
                        <a:cubicBezTo>
                          <a:pt x="825151" y="1056067"/>
                          <a:pt x="203296" y="910909"/>
                          <a:pt x="0" y="987558"/>
                        </a:cubicBezTo>
                        <a:cubicBezTo>
                          <a:pt x="-61233" y="766513"/>
                          <a:pt x="49539" y="588381"/>
                          <a:pt x="0" y="474028"/>
                        </a:cubicBezTo>
                        <a:cubicBezTo>
                          <a:pt x="-49539" y="359675"/>
                          <a:pt x="55486" y="193184"/>
                          <a:pt x="0" y="0"/>
                        </a:cubicBezTo>
                        <a:close/>
                      </a:path>
                      <a:path w="2614773" h="987558" stroke="0" extrusionOk="0">
                        <a:moveTo>
                          <a:pt x="0" y="0"/>
                        </a:moveTo>
                        <a:cubicBezTo>
                          <a:pt x="120097" y="-24605"/>
                          <a:pt x="377430" y="62788"/>
                          <a:pt x="549102" y="0"/>
                        </a:cubicBezTo>
                        <a:cubicBezTo>
                          <a:pt x="720774" y="-62788"/>
                          <a:pt x="806667" y="41712"/>
                          <a:pt x="1045909" y="0"/>
                        </a:cubicBezTo>
                        <a:cubicBezTo>
                          <a:pt x="1285151" y="-41712"/>
                          <a:pt x="1398984" y="49459"/>
                          <a:pt x="1568864" y="0"/>
                        </a:cubicBezTo>
                        <a:cubicBezTo>
                          <a:pt x="1738745" y="-49459"/>
                          <a:pt x="1825376" y="2591"/>
                          <a:pt x="2039523" y="0"/>
                        </a:cubicBezTo>
                        <a:cubicBezTo>
                          <a:pt x="2253670" y="-2591"/>
                          <a:pt x="2492079" y="45863"/>
                          <a:pt x="2614773" y="0"/>
                        </a:cubicBezTo>
                        <a:cubicBezTo>
                          <a:pt x="2653872" y="127840"/>
                          <a:pt x="2592167" y="332647"/>
                          <a:pt x="2614773" y="474028"/>
                        </a:cubicBezTo>
                        <a:cubicBezTo>
                          <a:pt x="2637379" y="615409"/>
                          <a:pt x="2583604" y="871713"/>
                          <a:pt x="2614773" y="987558"/>
                        </a:cubicBezTo>
                        <a:cubicBezTo>
                          <a:pt x="2401435" y="1028076"/>
                          <a:pt x="2263063" y="933778"/>
                          <a:pt x="2144114" y="987558"/>
                        </a:cubicBezTo>
                        <a:cubicBezTo>
                          <a:pt x="2025165" y="1041338"/>
                          <a:pt x="1912955" y="949737"/>
                          <a:pt x="1699602" y="987558"/>
                        </a:cubicBezTo>
                        <a:cubicBezTo>
                          <a:pt x="1486249" y="1025379"/>
                          <a:pt x="1445219" y="986655"/>
                          <a:pt x="1228943" y="987558"/>
                        </a:cubicBezTo>
                        <a:cubicBezTo>
                          <a:pt x="1012667" y="988461"/>
                          <a:pt x="885006" y="959611"/>
                          <a:pt x="758284" y="987558"/>
                        </a:cubicBezTo>
                        <a:cubicBezTo>
                          <a:pt x="631562" y="1015505"/>
                          <a:pt x="325723" y="932479"/>
                          <a:pt x="0" y="987558"/>
                        </a:cubicBezTo>
                        <a:cubicBezTo>
                          <a:pt x="-12277" y="794818"/>
                          <a:pt x="52337" y="616282"/>
                          <a:pt x="0" y="474028"/>
                        </a:cubicBezTo>
                        <a:cubicBezTo>
                          <a:pt x="-52337" y="331774"/>
                          <a:pt x="41826" y="23579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dirty="0">
                <a:solidFill>
                  <a:srgbClr val="FF0000"/>
                </a:solidFill>
              </a:rPr>
              <a:t># plotting Commission Rate Percentage by agency</a:t>
            </a:r>
          </a:p>
          <a:p>
            <a:pPr marL="0" indent="0">
              <a:buNone/>
            </a:pPr>
            <a:r>
              <a:rPr lang="en-GB" sz="1400" dirty="0" err="1"/>
              <a:t>Commission_Rate_Percentage_by_agency</a:t>
            </a:r>
            <a:r>
              <a:rPr lang="en-GB" sz="1400" dirty="0"/>
              <a:t> = (</a:t>
            </a:r>
          </a:p>
          <a:p>
            <a:pPr marL="0" indent="0">
              <a:buNone/>
            </a:pPr>
            <a:r>
              <a:rPr lang="en-GB" sz="1400" dirty="0"/>
              <a:t>    </a:t>
            </a:r>
            <a:r>
              <a:rPr lang="en-GB" sz="1400" dirty="0" err="1"/>
              <a:t>df.groupby</a:t>
            </a:r>
            <a:r>
              <a:rPr lang="en-GB" sz="1400" dirty="0"/>
              <a:t>("Agency")["</a:t>
            </a:r>
            <a:r>
              <a:rPr lang="en-GB" sz="1400" dirty="0" err="1"/>
              <a:t>Commission_Value</a:t>
            </a:r>
            <a:r>
              <a:rPr lang="en-GB" sz="1400" dirty="0"/>
              <a:t>"].sum() /</a:t>
            </a:r>
          </a:p>
          <a:p>
            <a:pPr marL="0" indent="0">
              <a:buNone/>
            </a:pPr>
            <a:r>
              <a:rPr lang="en-GB" sz="1400" dirty="0"/>
              <a:t>    </a:t>
            </a:r>
            <a:r>
              <a:rPr lang="en-GB" sz="1400" dirty="0" err="1"/>
              <a:t>df.groupby</a:t>
            </a:r>
            <a:r>
              <a:rPr lang="en-GB" sz="1400" dirty="0"/>
              <a:t>("Agency")["</a:t>
            </a:r>
            <a:r>
              <a:rPr lang="en-GB" sz="1400" dirty="0" err="1"/>
              <a:t>Gross_Sales</a:t>
            </a:r>
            <a:r>
              <a:rPr lang="en-GB" sz="1400" dirty="0"/>
              <a:t>"].sum()</a:t>
            </a:r>
          </a:p>
          <a:p>
            <a:pPr marL="0" indent="0">
              <a:buNone/>
            </a:pPr>
            <a:r>
              <a:rPr lang="en-GB" sz="1400" dirty="0"/>
              <a:t> * 100).round(2).</a:t>
            </a:r>
            <a:r>
              <a:rPr lang="en-GB" sz="1400" dirty="0" err="1"/>
              <a:t>sort_values</a:t>
            </a:r>
            <a:r>
              <a:rPr lang="en-GB" sz="1400" dirty="0"/>
              <a:t>(ascending=True).plot(kind=‘area', </a:t>
            </a:r>
            <a:r>
              <a:rPr lang="en-GB" sz="1400" dirty="0" err="1"/>
              <a:t>color</a:t>
            </a:r>
            <a:r>
              <a:rPr lang="en-GB" sz="1400" dirty="0"/>
              <a:t>=' </a:t>
            </a:r>
            <a:r>
              <a:rPr lang="en-GB" sz="1400" b="1" dirty="0">
                <a:solidFill>
                  <a:schemeClr val="accent6"/>
                </a:solidFill>
              </a:rPr>
              <a:t>‘#E17949 </a:t>
            </a:r>
            <a:r>
              <a:rPr lang="en-GB" sz="1400" dirty="0"/>
              <a:t>', label='Gross Sales')</a:t>
            </a:r>
            <a:br>
              <a:rPr lang="en-GB" sz="1400" dirty="0"/>
            </a:br>
            <a:endParaRPr lang="en-GB" sz="1400" dirty="0"/>
          </a:p>
          <a:p>
            <a:pPr marL="0" indent="0">
              <a:buNone/>
            </a:pPr>
            <a:r>
              <a:rPr lang="en-GB" sz="1400" dirty="0" err="1"/>
              <a:t>plt.title</a:t>
            </a:r>
            <a:r>
              <a:rPr lang="en-GB" sz="1400" dirty="0"/>
              <a:t>("Commission Rate Percentage by Agency")</a:t>
            </a:r>
          </a:p>
          <a:p>
            <a:pPr marL="0" indent="0">
              <a:buNone/>
            </a:pPr>
            <a:r>
              <a:rPr lang="en-GB" sz="1400" dirty="0" err="1"/>
              <a:t>plt.xlabel</a:t>
            </a:r>
            <a:r>
              <a:rPr lang="en-GB" sz="1400" dirty="0"/>
              <a:t>("Agency")</a:t>
            </a:r>
          </a:p>
          <a:p>
            <a:pPr marL="0" indent="0">
              <a:buNone/>
            </a:pPr>
            <a:r>
              <a:rPr lang="en-GB" sz="1400" dirty="0" err="1"/>
              <a:t>plt.ylabel</a:t>
            </a:r>
            <a:r>
              <a:rPr lang="en-GB" sz="1400" dirty="0"/>
              <a:t>("Commission Rate (%)")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400" dirty="0" err="1"/>
              <a:t>plt.show</a:t>
            </a:r>
            <a:r>
              <a:rPr lang="en-GB" sz="1400" dirty="0"/>
              <a:t>()</a:t>
            </a:r>
          </a:p>
          <a:p>
            <a:pPr marL="0" indent="0">
              <a:buNone/>
            </a:pPr>
            <a:endParaRPr lang="en-GB" sz="1100" dirty="0">
              <a:solidFill>
                <a:srgbClr val="FF000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0649717-515C-7FAE-EABB-5F5EC2B29924}"/>
              </a:ext>
            </a:extLst>
          </p:cNvPr>
          <p:cNvSpPr txBox="1">
            <a:spLocks/>
          </p:cNvSpPr>
          <p:nvPr/>
        </p:nvSpPr>
        <p:spPr>
          <a:xfrm>
            <a:off x="1996209" y="173878"/>
            <a:ext cx="3271841" cy="1889155"/>
          </a:xfrm>
          <a:prstGeom prst="rect">
            <a:avLst/>
          </a:prstGeom>
          <a:ln>
            <a:solidFill>
              <a:schemeClr val="tx1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2614773"/>
                      <a:gd name="connsiteY0" fmla="*/ 0 h 987558"/>
                      <a:gd name="connsiteX1" fmla="*/ 549102 w 2614773"/>
                      <a:gd name="connsiteY1" fmla="*/ 0 h 987558"/>
                      <a:gd name="connsiteX2" fmla="*/ 1019761 w 2614773"/>
                      <a:gd name="connsiteY2" fmla="*/ 0 h 987558"/>
                      <a:gd name="connsiteX3" fmla="*/ 1595012 w 2614773"/>
                      <a:gd name="connsiteY3" fmla="*/ 0 h 987558"/>
                      <a:gd name="connsiteX4" fmla="*/ 2039523 w 2614773"/>
                      <a:gd name="connsiteY4" fmla="*/ 0 h 987558"/>
                      <a:gd name="connsiteX5" fmla="*/ 2614773 w 2614773"/>
                      <a:gd name="connsiteY5" fmla="*/ 0 h 987558"/>
                      <a:gd name="connsiteX6" fmla="*/ 2614773 w 2614773"/>
                      <a:gd name="connsiteY6" fmla="*/ 483903 h 987558"/>
                      <a:gd name="connsiteX7" fmla="*/ 2614773 w 2614773"/>
                      <a:gd name="connsiteY7" fmla="*/ 987558 h 987558"/>
                      <a:gd name="connsiteX8" fmla="*/ 2091818 w 2614773"/>
                      <a:gd name="connsiteY8" fmla="*/ 987558 h 987558"/>
                      <a:gd name="connsiteX9" fmla="*/ 1516568 w 2614773"/>
                      <a:gd name="connsiteY9" fmla="*/ 987558 h 987558"/>
                      <a:gd name="connsiteX10" fmla="*/ 941318 w 2614773"/>
                      <a:gd name="connsiteY10" fmla="*/ 987558 h 987558"/>
                      <a:gd name="connsiteX11" fmla="*/ 0 w 2614773"/>
                      <a:gd name="connsiteY11" fmla="*/ 987558 h 987558"/>
                      <a:gd name="connsiteX12" fmla="*/ 0 w 2614773"/>
                      <a:gd name="connsiteY12" fmla="*/ 474028 h 987558"/>
                      <a:gd name="connsiteX13" fmla="*/ 0 w 2614773"/>
                      <a:gd name="connsiteY13" fmla="*/ 0 h 9875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614773" h="987558" fill="none" extrusionOk="0">
                        <a:moveTo>
                          <a:pt x="0" y="0"/>
                        </a:moveTo>
                        <a:cubicBezTo>
                          <a:pt x="272706" y="-50999"/>
                          <a:pt x="415512" y="41280"/>
                          <a:pt x="549102" y="0"/>
                        </a:cubicBezTo>
                        <a:cubicBezTo>
                          <a:pt x="682692" y="-41280"/>
                          <a:pt x="860365" y="19295"/>
                          <a:pt x="1019761" y="0"/>
                        </a:cubicBezTo>
                        <a:cubicBezTo>
                          <a:pt x="1179157" y="-19295"/>
                          <a:pt x="1403988" y="12807"/>
                          <a:pt x="1595012" y="0"/>
                        </a:cubicBezTo>
                        <a:cubicBezTo>
                          <a:pt x="1786036" y="-12807"/>
                          <a:pt x="1920767" y="52124"/>
                          <a:pt x="2039523" y="0"/>
                        </a:cubicBezTo>
                        <a:cubicBezTo>
                          <a:pt x="2158279" y="-52124"/>
                          <a:pt x="2499189" y="30545"/>
                          <a:pt x="2614773" y="0"/>
                        </a:cubicBezTo>
                        <a:cubicBezTo>
                          <a:pt x="2650615" y="124894"/>
                          <a:pt x="2585711" y="337000"/>
                          <a:pt x="2614773" y="483903"/>
                        </a:cubicBezTo>
                        <a:cubicBezTo>
                          <a:pt x="2643835" y="630806"/>
                          <a:pt x="2591463" y="850394"/>
                          <a:pt x="2614773" y="987558"/>
                        </a:cubicBezTo>
                        <a:cubicBezTo>
                          <a:pt x="2469152" y="1048743"/>
                          <a:pt x="2214263" y="954157"/>
                          <a:pt x="2091818" y="987558"/>
                        </a:cubicBezTo>
                        <a:cubicBezTo>
                          <a:pt x="1969374" y="1020959"/>
                          <a:pt x="1700263" y="928660"/>
                          <a:pt x="1516568" y="987558"/>
                        </a:cubicBezTo>
                        <a:cubicBezTo>
                          <a:pt x="1332873" y="1046456"/>
                          <a:pt x="1057485" y="919049"/>
                          <a:pt x="941318" y="987558"/>
                        </a:cubicBezTo>
                        <a:cubicBezTo>
                          <a:pt x="825151" y="1056067"/>
                          <a:pt x="203296" y="910909"/>
                          <a:pt x="0" y="987558"/>
                        </a:cubicBezTo>
                        <a:cubicBezTo>
                          <a:pt x="-61233" y="766513"/>
                          <a:pt x="49539" y="588381"/>
                          <a:pt x="0" y="474028"/>
                        </a:cubicBezTo>
                        <a:cubicBezTo>
                          <a:pt x="-49539" y="359675"/>
                          <a:pt x="55486" y="193184"/>
                          <a:pt x="0" y="0"/>
                        </a:cubicBezTo>
                        <a:close/>
                      </a:path>
                      <a:path w="2614773" h="987558" stroke="0" extrusionOk="0">
                        <a:moveTo>
                          <a:pt x="0" y="0"/>
                        </a:moveTo>
                        <a:cubicBezTo>
                          <a:pt x="120097" y="-24605"/>
                          <a:pt x="377430" y="62788"/>
                          <a:pt x="549102" y="0"/>
                        </a:cubicBezTo>
                        <a:cubicBezTo>
                          <a:pt x="720774" y="-62788"/>
                          <a:pt x="806667" y="41712"/>
                          <a:pt x="1045909" y="0"/>
                        </a:cubicBezTo>
                        <a:cubicBezTo>
                          <a:pt x="1285151" y="-41712"/>
                          <a:pt x="1398984" y="49459"/>
                          <a:pt x="1568864" y="0"/>
                        </a:cubicBezTo>
                        <a:cubicBezTo>
                          <a:pt x="1738745" y="-49459"/>
                          <a:pt x="1825376" y="2591"/>
                          <a:pt x="2039523" y="0"/>
                        </a:cubicBezTo>
                        <a:cubicBezTo>
                          <a:pt x="2253670" y="-2591"/>
                          <a:pt x="2492079" y="45863"/>
                          <a:pt x="2614773" y="0"/>
                        </a:cubicBezTo>
                        <a:cubicBezTo>
                          <a:pt x="2653872" y="127840"/>
                          <a:pt x="2592167" y="332647"/>
                          <a:pt x="2614773" y="474028"/>
                        </a:cubicBezTo>
                        <a:cubicBezTo>
                          <a:pt x="2637379" y="615409"/>
                          <a:pt x="2583604" y="871713"/>
                          <a:pt x="2614773" y="987558"/>
                        </a:cubicBezTo>
                        <a:cubicBezTo>
                          <a:pt x="2401435" y="1028076"/>
                          <a:pt x="2263063" y="933778"/>
                          <a:pt x="2144114" y="987558"/>
                        </a:cubicBezTo>
                        <a:cubicBezTo>
                          <a:pt x="2025165" y="1041338"/>
                          <a:pt x="1912955" y="949737"/>
                          <a:pt x="1699602" y="987558"/>
                        </a:cubicBezTo>
                        <a:cubicBezTo>
                          <a:pt x="1486249" y="1025379"/>
                          <a:pt x="1445219" y="986655"/>
                          <a:pt x="1228943" y="987558"/>
                        </a:cubicBezTo>
                        <a:cubicBezTo>
                          <a:pt x="1012667" y="988461"/>
                          <a:pt x="885006" y="959611"/>
                          <a:pt x="758284" y="987558"/>
                        </a:cubicBezTo>
                        <a:cubicBezTo>
                          <a:pt x="631562" y="1015505"/>
                          <a:pt x="325723" y="932479"/>
                          <a:pt x="0" y="987558"/>
                        </a:cubicBezTo>
                        <a:cubicBezTo>
                          <a:pt x="-12277" y="794818"/>
                          <a:pt x="52337" y="616282"/>
                          <a:pt x="0" y="474028"/>
                        </a:cubicBezTo>
                        <a:cubicBezTo>
                          <a:pt x="-52337" y="331774"/>
                          <a:pt x="41826" y="23579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Arial"/>
              <a:buNone/>
              <a:defRPr sz="1100">
                <a:solidFill>
                  <a:srgbClr val="FF0000"/>
                </a:solidFill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US" dirty="0" err="1">
                <a:solidFill>
                  <a:schemeClr val="tx1"/>
                </a:solidFill>
              </a:rPr>
              <a:t>Commission_Rate_Percentage_by_agency</a:t>
            </a:r>
            <a:r>
              <a:rPr lang="en-US" dirty="0">
                <a:solidFill>
                  <a:schemeClr val="tx1"/>
                </a:solidFill>
              </a:rPr>
              <a:t> = (</a:t>
            </a:r>
          </a:p>
          <a:p>
            <a:r>
              <a:rPr lang="en-US" dirty="0">
                <a:solidFill>
                  <a:schemeClr val="tx1"/>
                </a:solidFill>
              </a:rPr>
              <a:t>    </a:t>
            </a:r>
            <a:r>
              <a:rPr lang="en-US" dirty="0" err="1">
                <a:solidFill>
                  <a:schemeClr val="tx1"/>
                </a:solidFill>
              </a:rPr>
              <a:t>df.groupby</a:t>
            </a:r>
            <a:r>
              <a:rPr lang="en-US" dirty="0">
                <a:solidFill>
                  <a:schemeClr val="tx1"/>
                </a:solidFill>
              </a:rPr>
              <a:t>("Agency")["</a:t>
            </a:r>
            <a:r>
              <a:rPr lang="en-US" dirty="0" err="1">
                <a:solidFill>
                  <a:schemeClr val="tx1"/>
                </a:solidFill>
              </a:rPr>
              <a:t>Commission_Value</a:t>
            </a:r>
            <a:r>
              <a:rPr lang="en-US" dirty="0">
                <a:solidFill>
                  <a:schemeClr val="tx1"/>
                </a:solidFill>
              </a:rPr>
              <a:t>"].sum() /</a:t>
            </a:r>
          </a:p>
          <a:p>
            <a:r>
              <a:rPr lang="en-US" dirty="0">
                <a:solidFill>
                  <a:schemeClr val="tx1"/>
                </a:solidFill>
              </a:rPr>
              <a:t>    </a:t>
            </a:r>
            <a:r>
              <a:rPr lang="en-US" dirty="0" err="1">
                <a:solidFill>
                  <a:schemeClr val="tx1"/>
                </a:solidFill>
              </a:rPr>
              <a:t>df.groupby</a:t>
            </a:r>
            <a:r>
              <a:rPr lang="en-US" dirty="0">
                <a:solidFill>
                  <a:schemeClr val="tx1"/>
                </a:solidFill>
              </a:rPr>
              <a:t>("Agency")["</a:t>
            </a:r>
            <a:r>
              <a:rPr lang="en-US" dirty="0" err="1">
                <a:solidFill>
                  <a:schemeClr val="tx1"/>
                </a:solidFill>
              </a:rPr>
              <a:t>Gross_Sales</a:t>
            </a:r>
            <a:r>
              <a:rPr lang="en-US" dirty="0">
                <a:solidFill>
                  <a:schemeClr val="tx1"/>
                </a:solidFill>
              </a:rPr>
              <a:t>"].sum()</a:t>
            </a:r>
          </a:p>
          <a:p>
            <a:r>
              <a:rPr lang="en-US" dirty="0">
                <a:solidFill>
                  <a:schemeClr val="tx1"/>
                </a:solidFill>
              </a:rPr>
              <a:t> * 100).round(2).</a:t>
            </a:r>
            <a:r>
              <a:rPr lang="en-US" dirty="0" err="1">
                <a:solidFill>
                  <a:schemeClr val="tx1"/>
                </a:solidFill>
              </a:rPr>
              <a:t>sort_values</a:t>
            </a:r>
            <a:r>
              <a:rPr lang="en-US" dirty="0">
                <a:solidFill>
                  <a:schemeClr val="tx1"/>
                </a:solidFill>
              </a:rPr>
              <a:t>(ascending=True)</a:t>
            </a:r>
          </a:p>
          <a:p>
            <a:endParaRPr lang="en-GB" dirty="0"/>
          </a:p>
          <a:p>
            <a:r>
              <a:rPr lang="en-GB" dirty="0"/>
              <a:t># print</a:t>
            </a:r>
          </a:p>
          <a:p>
            <a:r>
              <a:rPr lang="en-US" dirty="0">
                <a:solidFill>
                  <a:schemeClr val="tx1"/>
                </a:solidFill>
              </a:rPr>
              <a:t>print(f'\</a:t>
            </a:r>
            <a:r>
              <a:rPr lang="en-US" dirty="0" err="1">
                <a:solidFill>
                  <a:schemeClr val="tx1"/>
                </a:solidFill>
              </a:rPr>
              <a:t>nCommission</a:t>
            </a:r>
            <a:r>
              <a:rPr lang="en-US" dirty="0">
                <a:solidFill>
                  <a:schemeClr val="tx1"/>
                </a:solidFill>
              </a:rPr>
              <a:t> Rate % by agency is:\n\n{</a:t>
            </a:r>
            <a:r>
              <a:rPr lang="en-US" dirty="0" err="1">
                <a:solidFill>
                  <a:schemeClr val="tx1"/>
                </a:solidFill>
              </a:rPr>
              <a:t>Commission_Rate_Percentage_by_agency</a:t>
            </a:r>
            <a:r>
              <a:rPr lang="en-US" dirty="0">
                <a:solidFill>
                  <a:schemeClr val="tx1"/>
                </a:solidFill>
              </a:rPr>
              <a:t>}')</a:t>
            </a:r>
          </a:p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6EDA72-9568-A9A2-1BF5-22FEC1D2F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250" y="0"/>
            <a:ext cx="1477050" cy="21217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9662F4-F0C1-BFC6-4367-8E9DD38C7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587" y="2908047"/>
            <a:ext cx="3537089" cy="271297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75849D2-3349-0A17-B178-2699E5370CAE}"/>
              </a:ext>
            </a:extLst>
          </p:cNvPr>
          <p:cNvSpPr txBox="1"/>
          <p:nvPr/>
        </p:nvSpPr>
        <p:spPr>
          <a:xfrm>
            <a:off x="146077" y="578710"/>
            <a:ext cx="1750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Explore measure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A1FDA0-F2F0-DC18-2368-3355ED682C7D}"/>
              </a:ext>
            </a:extLst>
          </p:cNvPr>
          <p:cNvSpPr txBox="1"/>
          <p:nvPr/>
        </p:nvSpPr>
        <p:spPr>
          <a:xfrm>
            <a:off x="176886" y="3262602"/>
            <a:ext cx="1499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Visualize data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71D68C-3121-33BB-7CD9-7FDD10EE971B}"/>
              </a:ext>
            </a:extLst>
          </p:cNvPr>
          <p:cNvSpPr txBox="1">
            <a:spLocks/>
          </p:cNvSpPr>
          <p:nvPr/>
        </p:nvSpPr>
        <p:spPr>
          <a:xfrm>
            <a:off x="1996209" y="6053081"/>
            <a:ext cx="3171770" cy="539744"/>
          </a:xfrm>
          <a:prstGeom prst="rect">
            <a:avLst/>
          </a:prstGeom>
          <a:ln>
            <a:solidFill>
              <a:schemeClr val="tx1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2614773"/>
                      <a:gd name="connsiteY0" fmla="*/ 0 h 987558"/>
                      <a:gd name="connsiteX1" fmla="*/ 549102 w 2614773"/>
                      <a:gd name="connsiteY1" fmla="*/ 0 h 987558"/>
                      <a:gd name="connsiteX2" fmla="*/ 1019761 w 2614773"/>
                      <a:gd name="connsiteY2" fmla="*/ 0 h 987558"/>
                      <a:gd name="connsiteX3" fmla="*/ 1595012 w 2614773"/>
                      <a:gd name="connsiteY3" fmla="*/ 0 h 987558"/>
                      <a:gd name="connsiteX4" fmla="*/ 2039523 w 2614773"/>
                      <a:gd name="connsiteY4" fmla="*/ 0 h 987558"/>
                      <a:gd name="connsiteX5" fmla="*/ 2614773 w 2614773"/>
                      <a:gd name="connsiteY5" fmla="*/ 0 h 987558"/>
                      <a:gd name="connsiteX6" fmla="*/ 2614773 w 2614773"/>
                      <a:gd name="connsiteY6" fmla="*/ 483903 h 987558"/>
                      <a:gd name="connsiteX7" fmla="*/ 2614773 w 2614773"/>
                      <a:gd name="connsiteY7" fmla="*/ 987558 h 987558"/>
                      <a:gd name="connsiteX8" fmla="*/ 2091818 w 2614773"/>
                      <a:gd name="connsiteY8" fmla="*/ 987558 h 987558"/>
                      <a:gd name="connsiteX9" fmla="*/ 1516568 w 2614773"/>
                      <a:gd name="connsiteY9" fmla="*/ 987558 h 987558"/>
                      <a:gd name="connsiteX10" fmla="*/ 941318 w 2614773"/>
                      <a:gd name="connsiteY10" fmla="*/ 987558 h 987558"/>
                      <a:gd name="connsiteX11" fmla="*/ 0 w 2614773"/>
                      <a:gd name="connsiteY11" fmla="*/ 987558 h 987558"/>
                      <a:gd name="connsiteX12" fmla="*/ 0 w 2614773"/>
                      <a:gd name="connsiteY12" fmla="*/ 474028 h 987558"/>
                      <a:gd name="connsiteX13" fmla="*/ 0 w 2614773"/>
                      <a:gd name="connsiteY13" fmla="*/ 0 h 9875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614773" h="987558" fill="none" extrusionOk="0">
                        <a:moveTo>
                          <a:pt x="0" y="0"/>
                        </a:moveTo>
                        <a:cubicBezTo>
                          <a:pt x="272706" y="-50999"/>
                          <a:pt x="415512" y="41280"/>
                          <a:pt x="549102" y="0"/>
                        </a:cubicBezTo>
                        <a:cubicBezTo>
                          <a:pt x="682692" y="-41280"/>
                          <a:pt x="860365" y="19295"/>
                          <a:pt x="1019761" y="0"/>
                        </a:cubicBezTo>
                        <a:cubicBezTo>
                          <a:pt x="1179157" y="-19295"/>
                          <a:pt x="1403988" y="12807"/>
                          <a:pt x="1595012" y="0"/>
                        </a:cubicBezTo>
                        <a:cubicBezTo>
                          <a:pt x="1786036" y="-12807"/>
                          <a:pt x="1920767" y="52124"/>
                          <a:pt x="2039523" y="0"/>
                        </a:cubicBezTo>
                        <a:cubicBezTo>
                          <a:pt x="2158279" y="-52124"/>
                          <a:pt x="2499189" y="30545"/>
                          <a:pt x="2614773" y="0"/>
                        </a:cubicBezTo>
                        <a:cubicBezTo>
                          <a:pt x="2650615" y="124894"/>
                          <a:pt x="2585711" y="337000"/>
                          <a:pt x="2614773" y="483903"/>
                        </a:cubicBezTo>
                        <a:cubicBezTo>
                          <a:pt x="2643835" y="630806"/>
                          <a:pt x="2591463" y="850394"/>
                          <a:pt x="2614773" y="987558"/>
                        </a:cubicBezTo>
                        <a:cubicBezTo>
                          <a:pt x="2469152" y="1048743"/>
                          <a:pt x="2214263" y="954157"/>
                          <a:pt x="2091818" y="987558"/>
                        </a:cubicBezTo>
                        <a:cubicBezTo>
                          <a:pt x="1969374" y="1020959"/>
                          <a:pt x="1700263" y="928660"/>
                          <a:pt x="1516568" y="987558"/>
                        </a:cubicBezTo>
                        <a:cubicBezTo>
                          <a:pt x="1332873" y="1046456"/>
                          <a:pt x="1057485" y="919049"/>
                          <a:pt x="941318" y="987558"/>
                        </a:cubicBezTo>
                        <a:cubicBezTo>
                          <a:pt x="825151" y="1056067"/>
                          <a:pt x="203296" y="910909"/>
                          <a:pt x="0" y="987558"/>
                        </a:cubicBezTo>
                        <a:cubicBezTo>
                          <a:pt x="-61233" y="766513"/>
                          <a:pt x="49539" y="588381"/>
                          <a:pt x="0" y="474028"/>
                        </a:cubicBezTo>
                        <a:cubicBezTo>
                          <a:pt x="-49539" y="359675"/>
                          <a:pt x="55486" y="193184"/>
                          <a:pt x="0" y="0"/>
                        </a:cubicBezTo>
                        <a:close/>
                      </a:path>
                      <a:path w="2614773" h="987558" stroke="0" extrusionOk="0">
                        <a:moveTo>
                          <a:pt x="0" y="0"/>
                        </a:moveTo>
                        <a:cubicBezTo>
                          <a:pt x="120097" y="-24605"/>
                          <a:pt x="377430" y="62788"/>
                          <a:pt x="549102" y="0"/>
                        </a:cubicBezTo>
                        <a:cubicBezTo>
                          <a:pt x="720774" y="-62788"/>
                          <a:pt x="806667" y="41712"/>
                          <a:pt x="1045909" y="0"/>
                        </a:cubicBezTo>
                        <a:cubicBezTo>
                          <a:pt x="1285151" y="-41712"/>
                          <a:pt x="1398984" y="49459"/>
                          <a:pt x="1568864" y="0"/>
                        </a:cubicBezTo>
                        <a:cubicBezTo>
                          <a:pt x="1738745" y="-49459"/>
                          <a:pt x="1825376" y="2591"/>
                          <a:pt x="2039523" y="0"/>
                        </a:cubicBezTo>
                        <a:cubicBezTo>
                          <a:pt x="2253670" y="-2591"/>
                          <a:pt x="2492079" y="45863"/>
                          <a:pt x="2614773" y="0"/>
                        </a:cubicBezTo>
                        <a:cubicBezTo>
                          <a:pt x="2653872" y="127840"/>
                          <a:pt x="2592167" y="332647"/>
                          <a:pt x="2614773" y="474028"/>
                        </a:cubicBezTo>
                        <a:cubicBezTo>
                          <a:pt x="2637379" y="615409"/>
                          <a:pt x="2583604" y="871713"/>
                          <a:pt x="2614773" y="987558"/>
                        </a:cubicBezTo>
                        <a:cubicBezTo>
                          <a:pt x="2401435" y="1028076"/>
                          <a:pt x="2263063" y="933778"/>
                          <a:pt x="2144114" y="987558"/>
                        </a:cubicBezTo>
                        <a:cubicBezTo>
                          <a:pt x="2025165" y="1041338"/>
                          <a:pt x="1912955" y="949737"/>
                          <a:pt x="1699602" y="987558"/>
                        </a:cubicBezTo>
                        <a:cubicBezTo>
                          <a:pt x="1486249" y="1025379"/>
                          <a:pt x="1445219" y="986655"/>
                          <a:pt x="1228943" y="987558"/>
                        </a:cubicBezTo>
                        <a:cubicBezTo>
                          <a:pt x="1012667" y="988461"/>
                          <a:pt x="885006" y="959611"/>
                          <a:pt x="758284" y="987558"/>
                        </a:cubicBezTo>
                        <a:cubicBezTo>
                          <a:pt x="631562" y="1015505"/>
                          <a:pt x="325723" y="932479"/>
                          <a:pt x="0" y="987558"/>
                        </a:cubicBezTo>
                        <a:cubicBezTo>
                          <a:pt x="-12277" y="794818"/>
                          <a:pt x="52337" y="616282"/>
                          <a:pt x="0" y="474028"/>
                        </a:cubicBezTo>
                        <a:cubicBezTo>
                          <a:pt x="-52337" y="331774"/>
                          <a:pt x="41826" y="23579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Arial"/>
              <a:buNone/>
              <a:defRPr sz="1100">
                <a:solidFill>
                  <a:srgbClr val="FF0000"/>
                </a:solidFill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US" dirty="0"/>
              <a:t># CSV export</a:t>
            </a:r>
          </a:p>
          <a:p>
            <a:r>
              <a:rPr lang="en-US" dirty="0" err="1">
                <a:solidFill>
                  <a:schemeClr val="tx1"/>
                </a:solidFill>
              </a:rPr>
              <a:t>df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to_csv</a:t>
            </a:r>
            <a:r>
              <a:rPr lang="en-US" dirty="0">
                <a:solidFill>
                  <a:schemeClr val="tx1"/>
                </a:solidFill>
              </a:rPr>
              <a:t>('travel insurance final.csv', index=False)</a:t>
            </a:r>
          </a:p>
          <a:p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8F3D82-C451-6D3A-6065-4F36DDE890DC}"/>
              </a:ext>
            </a:extLst>
          </p:cNvPr>
          <p:cNvSpPr txBox="1"/>
          <p:nvPr/>
        </p:nvSpPr>
        <p:spPr>
          <a:xfrm>
            <a:off x="149065" y="5946494"/>
            <a:ext cx="1499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Export data</a:t>
            </a:r>
          </a:p>
        </p:txBody>
      </p:sp>
    </p:spTree>
    <p:extLst>
      <p:ext uri="{BB962C8B-B14F-4D97-AF65-F5344CB8AC3E}">
        <p14:creationId xmlns:p14="http://schemas.microsoft.com/office/powerpoint/2010/main" val="3476200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E8975-4514-EFA8-07A7-C1D6C4FE2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3E84174-8B6F-6D35-73D9-B065FD90F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0" y="274637"/>
            <a:ext cx="6819900" cy="1143000"/>
          </a:xfrm>
        </p:spPr>
        <p:txBody>
          <a:bodyPr/>
          <a:lstStyle/>
          <a:p>
            <a:pPr algn="l"/>
            <a:r>
              <a:rPr lang="en-US" dirty="0"/>
              <a:t>Python 			  			Power BI</a:t>
            </a:r>
            <a:endParaRPr lang="en-GB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ABFF0E0-17DD-A8F4-14A0-7388D35BCCCE}"/>
              </a:ext>
            </a:extLst>
          </p:cNvPr>
          <p:cNvSpPr/>
          <p:nvPr/>
        </p:nvSpPr>
        <p:spPr>
          <a:xfrm>
            <a:off x="3271433" y="608129"/>
            <a:ext cx="849395" cy="47601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4D2F270-6496-80D2-D6AB-8F4E5525E460}"/>
              </a:ext>
            </a:extLst>
          </p:cNvPr>
          <p:cNvGrpSpPr/>
          <p:nvPr/>
        </p:nvGrpSpPr>
        <p:grpSpPr>
          <a:xfrm>
            <a:off x="855339" y="2659916"/>
            <a:ext cx="4634785" cy="542655"/>
            <a:chOff x="3271433" y="2164886"/>
            <a:chExt cx="4634785" cy="54265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5B5F66E-48F7-510D-267A-18CA811CE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71433" y="2180292"/>
              <a:ext cx="2222318" cy="466327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87977FB-E306-2905-5A94-E9B336043194}"/>
                </a:ext>
              </a:extLst>
            </p:cNvPr>
            <p:cNvSpPr txBox="1"/>
            <p:nvPr/>
          </p:nvSpPr>
          <p:spPr>
            <a:xfrm>
              <a:off x="6634716" y="2184321"/>
              <a:ext cx="12715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/>
                <a:t>Cockpit</a:t>
              </a: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4539C88D-8DCB-9E02-6A16-86527D6DACC2}"/>
                </a:ext>
              </a:extLst>
            </p:cNvPr>
            <p:cNvSpPr/>
            <p:nvPr/>
          </p:nvSpPr>
          <p:spPr>
            <a:xfrm>
              <a:off x="5587714" y="2164886"/>
              <a:ext cx="849395" cy="476017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3074" name="Picture 2" descr="Power BI Logo and symbol, meaning ...">
            <a:extLst>
              <a:ext uri="{FF2B5EF4-FFF2-40B4-BE49-F238E27FC236}">
                <a16:creationId xmlns:a16="http://schemas.microsoft.com/office/drawing/2014/main" id="{AC75341C-266B-EC2F-8F4D-5406F308E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581" y="491699"/>
            <a:ext cx="1168314" cy="65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ython Logo PNG Images Transparent Free Download">
            <a:extLst>
              <a:ext uri="{FF2B5EF4-FFF2-40B4-BE49-F238E27FC236}">
                <a16:creationId xmlns:a16="http://schemas.microsoft.com/office/drawing/2014/main" id="{A13936B2-A034-C34E-63DF-31BC6B89AE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22" t="29001" r="32767" b="21609"/>
          <a:stretch>
            <a:fillRect/>
          </a:stretch>
        </p:blipFill>
        <p:spPr bwMode="auto">
          <a:xfrm>
            <a:off x="570495" y="522287"/>
            <a:ext cx="638175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867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Travel Insurance Cockpit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927" y="1273629"/>
            <a:ext cx="8602823" cy="547240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Dashboard shows how current travel insurance commissions rates are </a:t>
            </a:r>
            <a:r>
              <a:rPr lang="en-GB" sz="1400" dirty="0"/>
              <a:t>highly inconsistent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sz="1400" dirty="0"/>
              <a:t>These visuals make it easy to identify agents who may be over-compensated and to understand the differences in commission levels across agencies. </a:t>
            </a:r>
          </a:p>
          <a:p>
            <a:pPr marL="0" indent="0">
              <a:buNone/>
            </a:pPr>
            <a:endParaRPr lang="en-US" sz="1400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sz="14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GB" sz="1400" dirty="0"/>
              <a:t>💡</a:t>
            </a:r>
            <a:r>
              <a:rPr lang="en-US" sz="1400" dirty="0"/>
              <a:t>By standardizing commissions at a </a:t>
            </a:r>
            <a:r>
              <a:rPr lang="en-US" sz="1400" b="1" dirty="0"/>
              <a:t>30% benchmark </a:t>
            </a:r>
            <a:r>
              <a:rPr lang="en-US" sz="1400" dirty="0"/>
              <a:t>and using Power BI to monitor variances in real time, the business can make more efficient, ethical decisions. </a:t>
            </a:r>
            <a:r>
              <a:rPr lang="en-GB" sz="1400" dirty="0"/>
              <a:t>💡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This page is designed to help quickly understand and </a:t>
            </a:r>
            <a:r>
              <a:rPr lang="en-US" sz="1400" b="1" dirty="0"/>
              <a:t>test</a:t>
            </a:r>
            <a:r>
              <a:rPr lang="en-US" sz="1400" dirty="0"/>
              <a:t> how changes in commission rates influence key financial </a:t>
            </a:r>
          </a:p>
          <a:p>
            <a:pPr marL="0" indent="0">
              <a:buNone/>
            </a:pPr>
            <a:r>
              <a:rPr lang="en-US" sz="1400" dirty="0"/>
              <a:t>m</a:t>
            </a:r>
            <a:r>
              <a:rPr lang="en-US" sz="1400"/>
              <a:t>etrics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How to use this tool:</a:t>
            </a:r>
            <a:endParaRPr lang="en-US" sz="1400" dirty="0"/>
          </a:p>
          <a:p>
            <a:r>
              <a:rPr lang="en-US" sz="1400" dirty="0"/>
              <a:t> Move the What-If parameter (slider) to simulate different commission values or percentages.</a:t>
            </a:r>
          </a:p>
          <a:p>
            <a:r>
              <a:rPr lang="en-US" sz="1400" dirty="0"/>
              <a:t> Charts and tables update instantly to show variation of commission value compared to gross sales and </a:t>
            </a:r>
            <a:r>
              <a:rPr lang="en-US" sz="1400" b="1" dirty="0"/>
              <a:t>suggested commission target (30%)</a:t>
            </a:r>
            <a:r>
              <a:rPr lang="en-US" sz="1400" dirty="0"/>
              <a:t>.</a:t>
            </a:r>
          </a:p>
          <a:p>
            <a:r>
              <a:rPr lang="en-US" sz="1400" dirty="0"/>
              <a:t> Apply "Agency" filter to evaluate commission impact at different levels.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76B85D-9459-51D6-B3B0-FA0D84A69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27" y="1257148"/>
            <a:ext cx="4583660" cy="6291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CFE9A0-EF8B-99A5-ABBD-4898632CD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27" y="4073861"/>
            <a:ext cx="4620983" cy="5018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8" name="Add-in 7" title="Microsoft Power BI">
                <a:extLst>
                  <a:ext uri="{FF2B5EF4-FFF2-40B4-BE49-F238E27FC236}">
                    <a16:creationId xmlns:a16="http://schemas.microsoft.com/office/drawing/2014/main" id="{C75D15C3-5753-8E1F-590F-644E2F6D55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5075525"/>
                  </p:ext>
                </p:extLst>
              </p:nvPr>
            </p:nvGraphicFramePr>
            <p:xfrm>
              <a:off x="0" y="571500"/>
              <a:ext cx="9144000" cy="5715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8" name="Add-in 7" title="Microsoft Power BI">
                <a:extLst>
                  <a:ext uri="{FF2B5EF4-FFF2-40B4-BE49-F238E27FC236}">
                    <a16:creationId xmlns:a16="http://schemas.microsoft.com/office/drawing/2014/main" id="{C75D15C3-5753-8E1F-590F-644E2F6D551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571500"/>
                <a:ext cx="9144000" cy="5715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837F95B-328B-8932-B604-6C6BAD4AAF1A}"/>
              </a:ext>
            </a:extLst>
          </p:cNvPr>
          <p:cNvSpPr txBox="1"/>
          <p:nvPr/>
        </p:nvSpPr>
        <p:spPr>
          <a:xfrm>
            <a:off x="6509782" y="6488668"/>
            <a:ext cx="2562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Power Bi embedded here</a:t>
            </a:r>
          </a:p>
        </p:txBody>
      </p:sp>
    </p:spTree>
    <p:extLst>
      <p:ext uri="{BB962C8B-B14F-4D97-AF65-F5344CB8AC3E}">
        <p14:creationId xmlns:p14="http://schemas.microsoft.com/office/powerpoint/2010/main" val="2486703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318C3F9A-4990-FBAF-93DE-796B4F25A0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9425660"/>
                  </p:ext>
                </p:extLst>
              </p:nvPr>
            </p:nvGraphicFramePr>
            <p:xfrm>
              <a:off x="87086" y="571500"/>
              <a:ext cx="9056914" cy="558981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318C3F9A-4990-FBAF-93DE-796B4F25A04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086" y="571500"/>
                <a:ext cx="9056914" cy="5589814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837F95B-328B-8932-B604-6C6BAD4AAF1A}"/>
              </a:ext>
            </a:extLst>
          </p:cNvPr>
          <p:cNvSpPr txBox="1"/>
          <p:nvPr/>
        </p:nvSpPr>
        <p:spPr>
          <a:xfrm>
            <a:off x="6581439" y="6472726"/>
            <a:ext cx="2562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Power Bi embedded here</a:t>
            </a:r>
          </a:p>
        </p:txBody>
      </p:sp>
    </p:spTree>
    <p:extLst>
      <p:ext uri="{BB962C8B-B14F-4D97-AF65-F5344CB8AC3E}">
        <p14:creationId xmlns:p14="http://schemas.microsoft.com/office/powerpoint/2010/main" val="3589631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Commissions differ significantly</a:t>
            </a:r>
            <a:endParaRPr lang="en-GB" dirty="0"/>
          </a:p>
          <a:p>
            <a:endParaRPr dirty="0"/>
          </a:p>
          <a:p>
            <a:r>
              <a:rPr dirty="0"/>
              <a:t>Profit stabilizes near 30% commission level</a:t>
            </a:r>
            <a:endParaRPr lang="en-GB" dirty="0"/>
          </a:p>
          <a:p>
            <a:endParaRPr dirty="0"/>
          </a:p>
          <a:p>
            <a:r>
              <a:rPr dirty="0"/>
              <a:t>What-if scenario shows impact clearly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Adopt standard commission target of 30% of gross sales</a:t>
            </a:r>
          </a:p>
          <a:p>
            <a:pPr marL="0" indent="0">
              <a:buNone/>
            </a:pPr>
            <a:r>
              <a:rPr lang="en-GB" dirty="0"/>
              <a:t>— </a:t>
            </a:r>
            <a:r>
              <a:rPr dirty="0"/>
              <a:t>Protects margins</a:t>
            </a:r>
          </a:p>
          <a:p>
            <a:pPr marL="0" indent="0">
              <a:buNone/>
            </a:pPr>
            <a:r>
              <a:rPr dirty="0"/>
              <a:t>— Fair across agencies</a:t>
            </a:r>
            <a:endParaRPr lang="en-GB" dirty="0"/>
          </a:p>
          <a:p>
            <a:pPr marL="0" indent="0">
              <a:buNone/>
            </a:pPr>
            <a:endParaRPr dirty="0"/>
          </a:p>
          <a:p>
            <a:r>
              <a:rPr lang="en-GB" dirty="0"/>
              <a:t>Promote</a:t>
            </a:r>
            <a:r>
              <a:rPr dirty="0"/>
              <a:t> real-time monitoring</a:t>
            </a:r>
            <a:r>
              <a:rPr lang="en-GB" dirty="0"/>
              <a:t> through use of cockpit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BE723B79-416D-450D-86A5-1169797F8D3E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+1Y32/TMBD+VypLvEUoSX8k6VsXCi8wVSuakFA1XeJr6s21I8cpK1P/d85OB2NMYgjKNql9aXK+3H13/r5z0xvGRVNL2J7CGtmYnWh9tQZz1YtYwFRn62MKSbEcxFEGGKfFALKUVnVthVYNG98wC6ZCey6aFqQLRMbPi4CBlDOo3N0SZIMBq9E0WoEUX7FzpiVrWtwFDK9rqQ24kHMLFl3YDbnTPUGIXvcpI5RWbHCOpe2sWZbx5Wg04lEYhsiLYdHPyK3pHDyyB11caJ8+18qCUJTG2ZI0LLIiSgaIRTYcpDH2Q2dfCmn3LsV2el0bqo5q3tauOTlhrbQRJUjmqzDYdKBvWK5lu/ZX05/sc92aEs9w6ZeUFXZLkayBDcqeUE1rQJXYWwpqFdtRc2ZGU+u816RCVW69daW/5AYpP2fjcBd8hzThG/c8/wXPpKoMVmD3t9ODgz1FezEHSQxwC29btd+58GXAz/V6LXyki3OQLf6+igVZGqEquef3D6p97IpbtYob5DMkUMoS08sr5BMKkK/AWKeq4pLo68hGobThaE62nm9vhLklfhzcK/I5bexucStU8r+8I8W9UrpqDiqNxc6txBHyJBrGGCf9FEdxvxjiUc5/A/ad0U3zDwX9AYHy4aFE2zsjLL1XL6S5Bxg2FgqJ0+tHTpXo/lQ5KN+dSAM2Qo6DtMQQOJ27ySgOB8lRo0eNPtPmHkCjTQmWqP7g8f/Ux2jAPvksz4vE3ekehoMME0yG8TDFpBxCGEbHyXGcHI/RnKRXvly2DREFeddKilvoP/kN/r9Py6efBjv/udsdtkZ673cXurVNDSXOQKGHUncRBHo/IgYo7nbHXxv3/V5Q+7vN6WbpmPl/CZhP47N9A4NrMlGdEAAA&quot;"/>
    <we:property name="creatorSessionId" value="&quot;8fddcff1-6d81-4f63-9d35-8626687196ea&quot;"/>
    <we:property name="creatorTenantId" value="&quot;cc16b735-7aa1-485e-8adf-fbcd040db12f&quot;"/>
    <we:property name="creatorUserId" value="&quot;100320055FD63A65&quot;"/>
    <we:property name="datasetId" value="&quot;8ad1a8db-2d4e-4a23-a05e-9bdbed9cfde3&quot;"/>
    <we:property name="embedUrl" value="&quot;/reportEmbed?reportId=8c3c27c7-9a9e-4dda-8f29-1b4731c4b4a2&amp;config=eyJjbHVzdGVyVXJsIjoiaHR0cHM6Ly9XQUJJLVVLLVNPVVRILUQ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1YUU/bMBD+K5WlvUVTkjZN27eSdXtgQEUnNGmq0CW+BoNrR47T0aH+952dsjGGBNPWAVL70vh8uft8/r5zkhvGRV1JWB/DEtmIHWh9tQRz1YlYwNTWdnJyeDQ+PTw/Hh9NyKwrK7Sq2eiGWTAl2jNRNyBdBDJ+mQcMpJxC6UYLkDUGrEJTawVSfMPWmaasaXATMLyupDbgQs4sWHRhV+ROY8odve1SRiisWOEMC9tah8MhX/T7fR6FYYg8T/LukNzq1sEje9DFhfbpM60sCEVpnC0dhPkwj9IeYj5MeoMYu6GzL4S0W5d8PbmuDK2O1ryuXFUywlpqIwqQzK/CYN2CvmGZls3SX01+sc90Ywo8xYWfUlbYNUWyBlYoO0LVjQFVYGchqFRsQ8WZGk2l817jElWx9tYL/TUzSPk5G4Wb4AekMV+5+/lveMZlabAEux1Odg72GO35DCQxwE28b9R258LXAT/Ty6Xwkc7PQDb4+CrmZKmFKuWW3z+p9qld3EWjuEE+RQKlLDG9uEI+pgDZBRjrVJVfEn0d2SiUNhzNwdrz7Z0wt8SPg3uLfEkbu5nfCpX8L+9IcauUdjU7lcZ842biCHkaJTHGaXeA/bibJ7iX89+A/WB0Xf9DQR8hUD7clWg7p4Sl8+aVFHcHzcZCLnFy/cSuEt3vKjvluxNpwPrIsTcoMARO527aj8NeutfoXqMvtLg70GhdgCWqP3j8P/cxGrDPPsvLInF7uodhb4gppkmcDDAtEgjDaN859p3jKZqT9MqXyaYmoiBvS0lxc/0nz+D/+7R8/m6w8b+71WFLpPd+d6EbW1dQ4BQUeihVG0Gg9yNigOJud/y1cf8fBZW/3Zy2l46Y/0rAfBLaL0EPL4/c4L4dMA/Lo/sOPkJt0MYQAAA=&quot;"/>
    <we:property name="isFiltersActionButtonVisible" value="true"/>
    <we:property name="isVisualContainerHeaderHidden" value="false"/>
    <we:property name="pageDisplayName" value="&quot;Commission Rate Analysis&quot;"/>
    <we:property name="pageName" value="&quot;999df666d1000edb5b39&quot;"/>
    <we:property name="pptInsertionSessionID" value="&quot;7C963734-A4DC-4658-B335-A77AE6AB3CF1&quot;"/>
    <we:property name="reportEmbeddedTime" value="&quot;2025-12-02T20:44:36.729Z&quot;"/>
    <we:property name="reportName" value="&quot;Travel Insurance Cockpit&quot;"/>
    <we:property name="reportState" value="&quot;CONNECTED&quot;"/>
    <we:property name="reportUrl" value="&quot;/groups/me/reports/8c3c27c7-9a9e-4dda-8f29-1b4731c4b4a2/999df666d1000edb5b3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4653269-DF67-4488-A50D-8977B3748474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91YbW/bNhD+K4KAol+EgRT1mm+Jmw7DuiFoiuzDEAxn8qQwlUWDorJ4gf97T5Tz1jq14TaN1y+GdDoe77l77nj0Tah0N29g8SfMMDwIj4z5OAP7MeBhFLajrEqrcirSQmSKy4LleSIFfTVzp03bhQc3oQNbozvTXQ/NYIiEf59HITTNCdTDWwVNh1E4R9uZFhr9H47K9MnZHpdRiNfzxlgYTJ46cDiYvSJ1eicX+C/DjiCdvsJTlG6UIiQIBWRsGjOWkl9lykitGxW8Z2tVBtN++4lpHeiWthlkPBM5LzLGCSqHQklWet1KN26lMl0cX88toSPMi/kQnAn5WhurJTShR2GxG52+CSem6Wf+6fiR/NT0VuJ7rPyn1mm3IEvOwhU2gW673kIrMag0hSpcUnBOrKHQea3DGlu58NIL8+/EIu2vwgO2PCdJp9u6WYX2HuWH0dOu0RLtkLjpJUXI45khJW54IKtoh0WEbD7uprG7R//46ew2MXEUvrVm5petGORoh02YonD0ibyOwr8u0KK3QOlQ2q2C9NtngetWKluEdHzxvjwVPdr3DJreM5XMvtNuhH8zikn19SQ+ej1oni/pZ7n0axQ4WBOjmVE+iujJsd7cEXRaDgZHc7dsJucuH/D1zqlnZs8AiFxIBArFk1gxLoFTfWC5kfGH6mrYQH0j3SdmNtNeJzhUl33nZth+ka+nlfaT/PIh+dc7vw33aeUcrO4+f/tdtwPcKHyHlds65HflILcP73tdX7gnqMze3LH4a0XR9hRgLambW7ehOEaL0VZ1dOrT/HyF9E28HMtKZimHPIkzoQSTscwB4t3L6g8Eqmn8vo3gAYAP/vDepagkWPWopGiBsQrt0cIje6Pt7VlNtXL8MqhGjvASscxTykkMnAYBlrPNZ/uPTclIJFTBPYqfIinrcY1pqdKS8QKAZZmAPGcpZWf/0xK8CkwV/GpN1wWn0FCb+UnztA7omLgiSZiKizilKZlDjBkDuWeJe9QMqBcEr75Pmnw7kUkukqIUkBaICChy9f+5KkSbM3JY1xZruB1Ijp/dWU+yf+6r6W3frtjPdgLwYqfmS/m2Y5/aI3d3Kc+Gbu+TZrBkUY28JINTM7kYps4d2+t+kX8YsdeOuKt+svhht0WexxAnjAuaZ7NUqEQWe9bzt2PVPrePjYyvoadb654PDndzgsICy6IokpSLlJeslJmfu78K0eG1m5rrL49dWSlZVXGeARRQFnyqYr67tTTLKpGTuQSSnImS0YG+u7WcJ1KkMWNTkEwUjMaCeFdr3uC6fypM77o5SDyBFtdcuYnD0CpUG+7Q/t/YB3f4T8Fc7y0FFgAA&quot;"/>
    <we:property name="creatorSessionId" value="&quot;65dfb02c-5791-4498-a9ad-c06596139780&quot;"/>
    <we:property name="creatorTenantId" value="&quot;cc16b735-7aa1-485e-8adf-fbcd040db12f&quot;"/>
    <we:property name="creatorUserId" value="&quot;100320055FD63A65&quot;"/>
    <we:property name="datasetId" value="&quot;8ad1a8db-2d4e-4a23-a05e-9bdbed9cfde3&quot;"/>
    <we:property name="embedUrl" value="&quot;/reportEmbed?reportId=8c3c27c7-9a9e-4dda-8f29-1b4731c4b4a2&amp;config=eyJjbHVzdGVyVXJsIjoiaHR0cHM6Ly9XQUJJLVVLLVNPVVRILUQ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91Y227bOBD9FUNA0RdhQequvDmuu1ikaYO4yD4sgmJMjhSmsmhQVDZu4H/fEeXcWqc23Kbx9sWQxsPDuZwZDnXjSdXMK1i8hxl6B96h1p9nYD4PuOd79Ur24cPR8fD06NP74fGYxHpula4b7+DGs2BKtGeqaaHqEEj4z7nvQVWdQNm9FVA16HtzNI2uoVJfsFemv6xpcel7eD2vtIEOcmLBYgd7Rer0TnvzP0LaEYRVVzhBYXspQoSQQcKmAWNxmkZ5zEit6RWcZWtVOmi3/UjXFlRN23QynoQpzxLG4yzkkEnBcqdbqMquVKaL8fXckHfk82LeRWVEtpbaKAGV57ww2PRG33gjXbUz9zR+JJ/o1gg8xcL9VVtlF4RkDVxhNVB10xqoBQ4KRaHylhScE6MpdE5rWGItFk56of8dGaT9pXfAluckaVRdVqvQ3nv5sbe0qZRA0yVuekkRcv7MkBLXPRAqmm4ReTbvd1PY3Hv/+OnsNjGB7701euaWrahjaYdNPvlebxNZ7Xt/X6BBh0DpkMqugvTXV4FrVipbhLR/cbY8FT3a9wyq1jGVYN8p27t/04tJ9fUoOHzdaZ4v6We5dGskWFgTo5mWLoroyLEe7hAaJTrAHu6WzWTc5QO+3hn1zOzpHCITohBDyaNAMi6AU31gvpHxQ3nVbSB/kO4jPZsppzMYysu2sTOsv8nX00r7SX7xkPzrjd+G+7RyDkY1X78dqbpz1/feYWG3DvldOYjtw3uqygv7BJXZmzsWf68o6pYCrAR1c2M3FEeP6G9VRxOX5ucrpB/iZV9WIok5pFGQhDJkIhApQLB7WR0jUE3jz20EDxz46A7vXYpKgJGPSooWaCPRHC6cZ2+UuT2rqVbGL+NVzxGeI+ZpTDkJgNMgwFK2+Wz/tSnpiYRycO/Fb5GU9X71aSninPEMgCVJCGnKYsrO/qdl8Gqgi8GfRjfNYAIVtZnfNE/rHO0Tl0URk0EWxDQlcwgwYSD2LHGPmgH1gsGrn5Mm105ElIZRlocQZ4gIGKby/3NV8DdnZFiWBku4HUjGz26sI9mn+2p629Yr9rOdHHixU/OlbNuxT+2RubuUZ0W391HVIRmUPS8JcKpHF93UuWN73S/ydyP22hF31U8Wv+y2yNMAgojxkObZJA5lJLI96/nbsWqf28dGxpfQ0q11zweHuzlBYoZ5lmVRzMOY5ywXiZu7v+uixWs71dffHruikKIogjQByCDP+FQGfHe0OEmKMCW4CKKUhTmjA313tJRHIowDxqYgWJgxGguCXdEc4LovFbq1zRwEnkCNa67cxGGoJcoNd2j3Nba/cZM1alptunR332gf3Pn/A/ChQccuFgAA&quot;"/>
    <we:property name="isFiltersActionButtonVisible" value="true"/>
    <we:property name="isVisualContainerHeaderHidden" value="false"/>
    <we:property name="pageDisplayName" value="&quot;Commission Adjustment &amp; Scenario Testing&quot;"/>
    <we:property name="pageName" value="&quot;ea4ea8a60b2005774950&quot;"/>
    <we:property name="pptInsertionSessionID" value="&quot;7C963734-A4DC-4658-B335-A77AE6AB3CF1&quot;"/>
    <we:property name="reportEmbeddedTime" value="&quot;2025-12-02T20:36:48.348Z&quot;"/>
    <we:property name="reportName" value="&quot;Travel Insurance Cockpit&quot;"/>
    <we:property name="reportState" value="&quot;CONNECTED&quot;"/>
    <we:property name="reportUrl" value="&quot;/groups/me/reports/8c3c27c7-9a9e-4dda-8f29-1b4731c4b4a2/ea4ea8a60b2005774950?experience=power-bi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1454</TotalTime>
  <Words>1016</Words>
  <Application>Microsoft Office PowerPoint</Application>
  <PresentationFormat>On-screen Show (4:3)</PresentationFormat>
  <Paragraphs>165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Presentation</vt:lpstr>
      <vt:lpstr>Index</vt:lpstr>
      <vt:lpstr>Context</vt:lpstr>
      <vt:lpstr>Business Questions</vt:lpstr>
      <vt:lpstr>Why It Matters</vt:lpstr>
      <vt:lpstr>Workflow</vt:lpstr>
      <vt:lpstr>PowerPoint Presentation</vt:lpstr>
      <vt:lpstr>PowerPoint Presentation</vt:lpstr>
      <vt:lpstr>SQL          Python</vt:lpstr>
      <vt:lpstr>PowerPoint Presentation</vt:lpstr>
      <vt:lpstr>PowerPoint Presentation</vt:lpstr>
      <vt:lpstr>PowerPoint Presentation</vt:lpstr>
      <vt:lpstr>Python         Power BI</vt:lpstr>
      <vt:lpstr>Travel Insurance Cockpit</vt:lpstr>
      <vt:lpstr>PowerPoint Presentation</vt:lpstr>
      <vt:lpstr>PowerPoint Presentation</vt:lpstr>
      <vt:lpstr>Key Insights</vt:lpstr>
      <vt:lpstr>Final Recommendation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Maddalena Niedda</cp:lastModifiedBy>
  <cp:revision>66</cp:revision>
  <dcterms:created xsi:type="dcterms:W3CDTF">2013-01-27T09:14:16Z</dcterms:created>
  <dcterms:modified xsi:type="dcterms:W3CDTF">2025-12-04T11:55:55Z</dcterms:modified>
  <cp:category/>
</cp:coreProperties>
</file>